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2" r:id="rId7"/>
    <p:sldId id="268" r:id="rId8"/>
    <p:sldId id="267" r:id="rId9"/>
    <p:sldId id="266" r:id="rId10"/>
    <p:sldId id="2147480829" r:id="rId11"/>
    <p:sldId id="2147480830" r:id="rId12"/>
    <p:sldId id="263" r:id="rId13"/>
    <p:sldId id="264" r:id="rId14"/>
    <p:sldId id="2147480828" r:id="rId15"/>
  </p:sldIdLst>
  <p:sldSz cx="12192000" cy="6858000"/>
  <p:notesSz cx="8229600" cy="14630400"/>
  <p:embeddedFontLst>
    <p:embeddedFont>
      <p:font typeface="Open Sans" pitchFamily="2" charset="0"/>
      <p:regular r:id="rId17"/>
      <p:bold r:id="rId18"/>
      <p:italic r:id="rId19"/>
      <p:boldItalic r:id="rId20"/>
    </p:embeddedFont>
    <p:embeddedFont>
      <p:font typeface="Raleway" pitchFamily="2" charset="0"/>
      <p:regular r:id="rId21"/>
      <p:bold r:id="rId22"/>
      <p:italic r:id="rId23"/>
      <p:boldItalic r:id="rId24"/>
    </p:embeddedFont>
    <p:embeddedFont>
      <p:font typeface="Roboto" panose="02000000000000000000" pitchFamily="2" charset="0"/>
      <p:regular r:id="rId25"/>
      <p:bold r:id="rId26"/>
      <p:italic r:id="rId27"/>
      <p:boldItalic r:id="rId28"/>
    </p:embeddedFont>
    <p:embeddedFont>
      <p:font typeface="Trebuchet MS" panose="020B0603020202020204" pitchFamily="34"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7455302"/>
      </p:ext>
    </p:extLst>
  </p:cSld>
  <p:clrMap bg1="lt1" tx1="dk1" bg2="lt2" tx2="dk2" accent1="accent1" accent2="accent2" accent3="accent3" accent4="accent4" accent5="accent5" accent6="accent6" hlink="hlink" folHlink="folHlink"/>
  <p:notesStyle>
    <a:lvl1pPr marL="0" algn="l" defTabSz="761970" rtl="0" eaLnBrk="1" latinLnBrk="0" hangingPunct="1">
      <a:defRPr sz="1000" kern="1200">
        <a:solidFill>
          <a:schemeClr val="tx1"/>
        </a:solidFill>
        <a:latin typeface="+mn-lt"/>
        <a:ea typeface="+mn-ea"/>
        <a:cs typeface="+mn-cs"/>
      </a:defRPr>
    </a:lvl1pPr>
    <a:lvl2pPr marL="380985" algn="l" defTabSz="761970" rtl="0" eaLnBrk="1" latinLnBrk="0" hangingPunct="1">
      <a:defRPr sz="1000" kern="1200">
        <a:solidFill>
          <a:schemeClr val="tx1"/>
        </a:solidFill>
        <a:latin typeface="+mn-lt"/>
        <a:ea typeface="+mn-ea"/>
        <a:cs typeface="+mn-cs"/>
      </a:defRPr>
    </a:lvl2pPr>
    <a:lvl3pPr marL="761970" algn="l" defTabSz="761970" rtl="0" eaLnBrk="1" latinLnBrk="0" hangingPunct="1">
      <a:defRPr sz="1000" kern="1200">
        <a:solidFill>
          <a:schemeClr val="tx1"/>
        </a:solidFill>
        <a:latin typeface="+mn-lt"/>
        <a:ea typeface="+mn-ea"/>
        <a:cs typeface="+mn-cs"/>
      </a:defRPr>
    </a:lvl3pPr>
    <a:lvl4pPr marL="1142954" algn="l" defTabSz="761970" rtl="0" eaLnBrk="1" latinLnBrk="0" hangingPunct="1">
      <a:defRPr sz="1000" kern="1200">
        <a:solidFill>
          <a:schemeClr val="tx1"/>
        </a:solidFill>
        <a:latin typeface="+mn-lt"/>
        <a:ea typeface="+mn-ea"/>
        <a:cs typeface="+mn-cs"/>
      </a:defRPr>
    </a:lvl4pPr>
    <a:lvl5pPr marL="1523939" algn="l" defTabSz="761970" rtl="0" eaLnBrk="1" latinLnBrk="0" hangingPunct="1">
      <a:defRPr sz="1000" kern="1200">
        <a:solidFill>
          <a:schemeClr val="tx1"/>
        </a:solidFill>
        <a:latin typeface="+mn-lt"/>
        <a:ea typeface="+mn-ea"/>
        <a:cs typeface="+mn-cs"/>
      </a:defRPr>
    </a:lvl5pPr>
    <a:lvl6pPr marL="1904924" algn="l" defTabSz="761970" rtl="0" eaLnBrk="1" latinLnBrk="0" hangingPunct="1">
      <a:defRPr sz="1000" kern="1200">
        <a:solidFill>
          <a:schemeClr val="tx1"/>
        </a:solidFill>
        <a:latin typeface="+mn-lt"/>
        <a:ea typeface="+mn-ea"/>
        <a:cs typeface="+mn-cs"/>
      </a:defRPr>
    </a:lvl6pPr>
    <a:lvl7pPr marL="2285909" algn="l" defTabSz="761970" rtl="0" eaLnBrk="1" latinLnBrk="0" hangingPunct="1">
      <a:defRPr sz="1000" kern="1200">
        <a:solidFill>
          <a:schemeClr val="tx1"/>
        </a:solidFill>
        <a:latin typeface="+mn-lt"/>
        <a:ea typeface="+mn-ea"/>
        <a:cs typeface="+mn-cs"/>
      </a:defRPr>
    </a:lvl7pPr>
    <a:lvl8pPr marL="2666893" algn="l" defTabSz="761970" rtl="0" eaLnBrk="1" latinLnBrk="0" hangingPunct="1">
      <a:defRPr sz="1000" kern="1200">
        <a:solidFill>
          <a:schemeClr val="tx1"/>
        </a:solidFill>
        <a:latin typeface="+mn-lt"/>
        <a:ea typeface="+mn-ea"/>
        <a:cs typeface="+mn-cs"/>
      </a:defRPr>
    </a:lvl8pPr>
    <a:lvl9pPr marL="3047878" algn="l" defTabSz="76197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B5462-2311-4D91-72DB-165DEF287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A1A5A-AE12-A630-F505-A7C37BB07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F571D-F580-DC64-324A-81B8C422B9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9457B3-055A-4839-ACF6-EC8C97233CD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77064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47024-9C66-176F-5D7B-72A980D9F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CEBCB-1EB7-025B-012D-B53337FBD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978D5-79D9-D8C9-84EF-215DD4A847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C5FAD-A464-1586-1B06-3B4C019F60C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00386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F8875-F4B2-D15F-560B-2EF2A155D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B3254-060C-9874-805A-950703962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1FA16-7ACB-ACC4-18AC-88735AF2C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3C705-3700-6C1B-ACA3-428AC9AB953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40518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6C307-D2AF-CE47-23C4-6BE2C724C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F19CC-5A7A-25A4-A03A-8145E02B17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1A6DB0-246B-8D96-2B5E-1540287D97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9D1600-E005-5665-5F0B-269C9D4D364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43743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C1F4-0413-0F0C-7345-EE91E1B18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43524-7E2E-EBA8-E854-0458A0705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365DA-80BB-5C5C-8C35-22E73AABF3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31B62B-BC00-605D-C622-80D6765CA87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78314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0317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88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866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684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122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262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819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83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Closing slid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7D01089-CE8A-3494-288E-2FE758C7FB0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37700" y="472594"/>
            <a:ext cx="1841500" cy="689583"/>
          </a:xfrm>
          <a:prstGeom prst="rect">
            <a:avLst/>
          </a:prstGeom>
        </p:spPr>
      </p:pic>
      <p:sp>
        <p:nvSpPr>
          <p:cNvPr id="10" name="Subtitle 5">
            <a:extLst>
              <a:ext uri="{FF2B5EF4-FFF2-40B4-BE49-F238E27FC236}">
                <a16:creationId xmlns:a16="http://schemas.microsoft.com/office/drawing/2014/main" id="{9D49F5E5-CFA4-84AA-C631-C7197379F7CC}"/>
              </a:ext>
            </a:extLst>
          </p:cNvPr>
          <p:cNvSpPr txBox="1">
            <a:spLocks/>
          </p:cNvSpPr>
          <p:nvPr userDrawn="1"/>
        </p:nvSpPr>
        <p:spPr>
          <a:xfrm>
            <a:off x="6708211" y="5511835"/>
            <a:ext cx="4856589" cy="1108031"/>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2800" kern="12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GB" sz="900">
                <a:solidFill>
                  <a:schemeClr val="accent1"/>
                </a:solidFill>
                <a:latin typeface="+mn-lt"/>
              </a:rPr>
              <a:t>Telit Cinterion reserves all rights to this document and the information contained herein. Products, names, logos and designs described herein may in whole or in part be subject to intellectual property rights. The information contained herein is provided "as is." No warranty of any kind, either express or implied, is made in relation to the accuracy, reliability, fitness for a particular purpose or content of this document. This document may be revised by Telit Cinterion at any time. For most recent documents, please visit www.telit.com © 2025 Telit Cinterion. All Rights Reserved. </a:t>
            </a:r>
          </a:p>
        </p:txBody>
      </p:sp>
      <p:sp>
        <p:nvSpPr>
          <p:cNvPr id="11" name="Title 18">
            <a:extLst>
              <a:ext uri="{FF2B5EF4-FFF2-40B4-BE49-F238E27FC236}">
                <a16:creationId xmlns:a16="http://schemas.microsoft.com/office/drawing/2014/main" id="{8DFB6E79-B54F-8F4E-AAAF-A8F407E7779B}"/>
              </a:ext>
            </a:extLst>
          </p:cNvPr>
          <p:cNvSpPr>
            <a:spLocks noGrp="1"/>
          </p:cNvSpPr>
          <p:nvPr>
            <p:ph type="ctrTitle" hasCustomPrompt="1"/>
          </p:nvPr>
        </p:nvSpPr>
        <p:spPr>
          <a:xfrm>
            <a:off x="8120599" y="2469324"/>
            <a:ext cx="3525245" cy="1519680"/>
          </a:xfrm>
        </p:spPr>
        <p:txBody>
          <a:bodyPr anchor="ctr">
            <a:normAutofit/>
          </a:bodyPr>
          <a:lstStyle>
            <a:lvl1pPr algn="r">
              <a:defRPr/>
            </a:lvl1pPr>
          </a:lstStyle>
          <a:p>
            <a:pPr algn="l"/>
            <a:r>
              <a:rPr lang="en-IN" sz="4800" spc="300"/>
              <a:t>Thank You</a:t>
            </a:r>
          </a:p>
        </p:txBody>
      </p:sp>
    </p:spTree>
    <p:extLst>
      <p:ext uri="{BB962C8B-B14F-4D97-AF65-F5344CB8AC3E}">
        <p14:creationId xmlns:p14="http://schemas.microsoft.com/office/powerpoint/2010/main" val="63220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lide Number Placeholder 3">
            <a:extLst>
              <a:ext uri="{FF2B5EF4-FFF2-40B4-BE49-F238E27FC236}">
                <a16:creationId xmlns:a16="http://schemas.microsoft.com/office/drawing/2014/main" id="{BEF83D06-2CD6-8396-2FAA-E11E223D1CE9}"/>
              </a:ext>
            </a:extLst>
          </p:cNvPr>
          <p:cNvSpPr txBox="1">
            <a:spLocks/>
          </p:cNvSpPr>
          <p:nvPr userDrawn="1"/>
        </p:nvSpPr>
        <p:spPr>
          <a:xfrm>
            <a:off x="11106660" y="6490179"/>
            <a:ext cx="762001" cy="222250"/>
          </a:xfrm>
          <a:prstGeom prst="rect">
            <a:avLst/>
          </a:prstGeom>
        </p:spPr>
        <p:txBody>
          <a:bodyPr vert="horz" lIns="0" tIns="0" rIns="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980692-5CF5-4477-9CC7-CF761597EE5F}" type="slidenum">
              <a:rPr lang="en-US" smtClean="0"/>
              <a:pPr/>
              <a:t>‹#›</a:t>
            </a:fld>
            <a:endParaRPr lang="en-US"/>
          </a:p>
        </p:txBody>
      </p:sp>
      <p:sp>
        <p:nvSpPr>
          <p:cNvPr id="17" name="Slide Number Placeholder 5">
            <a:extLst>
              <a:ext uri="{FF2B5EF4-FFF2-40B4-BE49-F238E27FC236}">
                <a16:creationId xmlns:a16="http://schemas.microsoft.com/office/drawing/2014/main" id="{3AB37C1F-FBE7-B90B-5180-308D78A02895}"/>
              </a:ext>
            </a:extLst>
          </p:cNvPr>
          <p:cNvSpPr txBox="1">
            <a:spLocks/>
          </p:cNvSpPr>
          <p:nvPr userDrawn="1"/>
        </p:nvSpPr>
        <p:spPr>
          <a:xfrm>
            <a:off x="11319383" y="6490179"/>
            <a:ext cx="336556" cy="222250"/>
          </a:xfrm>
          <a:prstGeom prst="rect">
            <a:avLst/>
          </a:prstGeom>
        </p:spPr>
        <p:txBody>
          <a:bodyPr vert="horz" lIns="0" tIns="0" rIns="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980692-5CF5-4477-9CC7-CF761597EE5F}" type="slidenum">
              <a:rPr lang="en-US" smtClean="0">
                <a:solidFill>
                  <a:schemeClr val="bg1"/>
                </a:solidFill>
              </a:rPr>
              <a:pPr/>
              <a:t>‹#›</a:t>
            </a:fld>
            <a:endParaRPr lang="en-US">
              <a:solidFill>
                <a:schemeClr val="bg1"/>
              </a:solidFill>
            </a:endParaRPr>
          </a:p>
        </p:txBody>
      </p:sp>
      <p:sp>
        <p:nvSpPr>
          <p:cNvPr id="18" name="Rectangle: Rounded Corners 17">
            <a:extLst>
              <a:ext uri="{FF2B5EF4-FFF2-40B4-BE49-F238E27FC236}">
                <a16:creationId xmlns:a16="http://schemas.microsoft.com/office/drawing/2014/main" id="{29AA5075-C4E9-FF1C-D061-9F2EF1196F92}"/>
              </a:ext>
            </a:extLst>
          </p:cNvPr>
          <p:cNvSpPr/>
          <p:nvPr userDrawn="1"/>
        </p:nvSpPr>
        <p:spPr>
          <a:xfrm>
            <a:off x="11271250" y="6490179"/>
            <a:ext cx="597412" cy="222250"/>
          </a:xfrm>
          <a:prstGeom prst="roundRect">
            <a:avLst>
              <a:gd name="adj" fmla="val 50000"/>
            </a:avLst>
          </a:prstGeom>
          <a:solidFill>
            <a:schemeClr val="accent1"/>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12C1052-9890-26B3-2B0D-84EDA6A2A802}"/>
              </a:ext>
            </a:extLst>
          </p:cNvPr>
          <p:cNvCxnSpPr>
            <a:cxnSpLocks/>
            <a:stCxn id="18" idx="1"/>
          </p:cNvCxnSpPr>
          <p:nvPr userDrawn="1"/>
        </p:nvCxnSpPr>
        <p:spPr>
          <a:xfrm flipH="1" flipV="1">
            <a:off x="1267797" y="6588070"/>
            <a:ext cx="10003453" cy="13234"/>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77C9E8-1168-1E52-75A1-BD9FFF49303E}"/>
              </a:ext>
            </a:extLst>
          </p:cNvPr>
          <p:cNvCxnSpPr>
            <a:cxnSpLocks/>
            <a:endCxn id="18" idx="3"/>
          </p:cNvCxnSpPr>
          <p:nvPr userDrawn="1"/>
        </p:nvCxnSpPr>
        <p:spPr>
          <a:xfrm flipH="1" flipV="1">
            <a:off x="11868662" y="6601304"/>
            <a:ext cx="323338" cy="1289"/>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Placeholder 3">
            <a:extLst>
              <a:ext uri="{FF2B5EF4-FFF2-40B4-BE49-F238E27FC236}">
                <a16:creationId xmlns:a16="http://schemas.microsoft.com/office/drawing/2014/main" id="{95EEC257-51ED-A408-AC5B-9611D770095B}"/>
              </a:ext>
            </a:extLst>
          </p:cNvPr>
          <p:cNvSpPr txBox="1">
            <a:spLocks/>
          </p:cNvSpPr>
          <p:nvPr userDrawn="1"/>
        </p:nvSpPr>
        <p:spPr>
          <a:xfrm>
            <a:off x="11329421" y="6492561"/>
            <a:ext cx="529204" cy="2222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F980692-5CF5-4477-9CC7-CF761597EE5F}" type="slidenum">
              <a:rPr lang="en-US" sz="900" b="0" smtClean="0">
                <a:solidFill>
                  <a:schemeClr val="bg1"/>
                </a:solidFill>
              </a:rPr>
              <a:pPr algn="ctr"/>
              <a:t>‹#›</a:t>
            </a:fld>
            <a:endParaRPr lang="en-US" sz="1000" b="0">
              <a:solidFill>
                <a:schemeClr val="bg1"/>
              </a:solidFill>
            </a:endParaRPr>
          </a:p>
        </p:txBody>
      </p:sp>
      <p:sp>
        <p:nvSpPr>
          <p:cNvPr id="22" name="Footer Placeholder 18">
            <a:extLst>
              <a:ext uri="{FF2B5EF4-FFF2-40B4-BE49-F238E27FC236}">
                <a16:creationId xmlns:a16="http://schemas.microsoft.com/office/drawing/2014/main" id="{8AF3FB14-2590-104B-0368-72682491575D}"/>
              </a:ext>
            </a:extLst>
          </p:cNvPr>
          <p:cNvSpPr txBox="1">
            <a:spLocks/>
          </p:cNvSpPr>
          <p:nvPr userDrawn="1"/>
        </p:nvSpPr>
        <p:spPr>
          <a:xfrm>
            <a:off x="3684000" y="6550821"/>
            <a:ext cx="4824000" cy="92333"/>
          </a:xfrm>
          <a:prstGeom prst="rect">
            <a:avLst/>
          </a:prstGeom>
          <a:solidFill>
            <a:schemeClr val="bg1"/>
          </a:solidFill>
        </p:spPr>
        <p:txBody>
          <a:bodyPr vert="horz" wrap="square" lIns="0" tIns="0" rIns="0" bIns="0" rtlCol="0" anchor="t">
            <a:spAutoFit/>
          </a:bodyPr>
          <a:lstStyle>
            <a:defPPr>
              <a:defRPr lang="en-US"/>
            </a:defPPr>
            <a:lvl1pPr marL="0" algn="ctr" defTabSz="914400" rtl="0" eaLnBrk="1" latinLnBrk="0" hangingPunct="1">
              <a:defRPr lang="en-US" sz="1000" kern="1200" dirty="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dirty="0">
                <a:solidFill>
                  <a:srgbClr val="44546A"/>
                </a:solidFill>
                <a:latin typeface="Open Sans"/>
              </a:rPr>
              <a:t>© Telit </a:t>
            </a:r>
            <a:r>
              <a:rPr lang="en-GB" sz="600" dirty="0" err="1">
                <a:solidFill>
                  <a:srgbClr val="44546A"/>
                </a:solidFill>
                <a:latin typeface="Open Sans"/>
              </a:rPr>
              <a:t>Cinterion</a:t>
            </a:r>
            <a:r>
              <a:rPr lang="en-GB" sz="600" dirty="0">
                <a:solidFill>
                  <a:srgbClr val="44546A"/>
                </a:solidFill>
                <a:latin typeface="Open Sans"/>
              </a:rPr>
              <a:t> 2025. All rights reserved;  Commercial in confidence. No copying or distributing without prior written authorization</a:t>
            </a:r>
            <a:endParaRPr lang="en-GB" sz="1800" dirty="0">
              <a:solidFill>
                <a:srgbClr val="44546A"/>
              </a:solidFill>
              <a:latin typeface="Open Sans"/>
            </a:endParaRPr>
          </a:p>
        </p:txBody>
      </p:sp>
      <p:pic>
        <p:nvPicPr>
          <p:cNvPr id="23" name="Picture 22">
            <a:extLst>
              <a:ext uri="{FF2B5EF4-FFF2-40B4-BE49-F238E27FC236}">
                <a16:creationId xmlns:a16="http://schemas.microsoft.com/office/drawing/2014/main" id="{9E6EE606-7699-F7FA-49F7-9EC3ED9EE757}"/>
              </a:ext>
            </a:extLst>
          </p:cNvPr>
          <p:cNvPicPr>
            <a:picLocks noChangeAspect="1"/>
          </p:cNvPicPr>
          <p:nvPr userDrawn="1"/>
        </p:nvPicPr>
        <p:blipFill>
          <a:blip r:embed="rId11" cstate="print">
            <a:extLst>
              <a:ext uri="{28A0092B-C50C-407E-A947-70E740481C1C}">
                <a14:useLocalDpi xmlns:a14="http://schemas.microsoft.com/office/drawing/2010/main"/>
              </a:ext>
            </a:extLst>
          </a:blip>
          <a:srcRect/>
          <a:stretch/>
        </p:blipFill>
        <p:spPr>
          <a:xfrm>
            <a:off x="333375" y="6337519"/>
            <a:ext cx="815340" cy="305318"/>
          </a:xfrm>
          <a:prstGeom prst="rect">
            <a:avLst/>
          </a:prstGeom>
          <a:solidFill>
            <a:schemeClr val="bg1"/>
          </a:solidFill>
        </p:spPr>
      </p:pic>
      <p:sp>
        <p:nvSpPr>
          <p:cNvPr id="24" name="Title 7">
            <a:extLst>
              <a:ext uri="{FF2B5EF4-FFF2-40B4-BE49-F238E27FC236}">
                <a16:creationId xmlns:a16="http://schemas.microsoft.com/office/drawing/2014/main" id="{2A67716F-F7C0-B5CD-3742-46FCD6DD1E0B}"/>
              </a:ext>
            </a:extLst>
          </p:cNvPr>
          <p:cNvSpPr txBox="1">
            <a:spLocks/>
          </p:cNvSpPr>
          <p:nvPr userDrawn="1"/>
        </p:nvSpPr>
        <p:spPr>
          <a:xfrm>
            <a:off x="214657" y="6657975"/>
            <a:ext cx="2312895" cy="168698"/>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600" kern="1200">
                <a:solidFill>
                  <a:srgbClr val="00306B"/>
                </a:solidFill>
                <a:latin typeface="Open Sans" panose="020B0606030504020204" pitchFamily="34" charset="0"/>
                <a:ea typeface="Open Sans" panose="020B0606030504020204" pitchFamily="34" charset="0"/>
                <a:cs typeface="Open Sans" panose="020B0606030504020204" pitchFamily="34" charset="0"/>
              </a:defRPr>
            </a:lvl1pPr>
          </a:lstStyle>
          <a:p>
            <a:pPr algn="l"/>
            <a:r>
              <a:rPr lang="en-US" sz="600">
                <a:latin typeface="Open Sans" pitchFamily="2" charset="0"/>
                <a:ea typeface="Open Sans" pitchFamily="2" charset="0"/>
                <a:cs typeface="Open Sans" pitchFamily="2" charset="0"/>
              </a:rPr>
              <a:t>Invisible Intelligence</a:t>
            </a:r>
          </a:p>
        </p:txBody>
      </p:sp>
    </p:spTree>
    <p:extLst>
      <p:ext uri="{BB962C8B-B14F-4D97-AF65-F5344CB8AC3E}">
        <p14:creationId xmlns:p14="http://schemas.microsoft.com/office/powerpoint/2010/main" val="32196247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7" r:id="rId6"/>
    <p:sldLayoutId id="2147483678" r:id="rId7"/>
    <p:sldLayoutId id="2147483679" r:id="rId8"/>
    <p:sldLayoutId id="2147483680"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35567" y="1437445"/>
            <a:ext cx="7133542" cy="1991555"/>
          </a:xfrm>
          <a:prstGeom prst="rect">
            <a:avLst/>
          </a:prstGeom>
          <a:noFill/>
          <a:ln/>
        </p:spPr>
        <p:txBody>
          <a:bodyPr wrap="none" lIns="0" tIns="0" rIns="0" bIns="0" rtlCol="0" anchor="ctr"/>
          <a:lstStyle/>
          <a:p>
            <a:pPr>
              <a:lnSpc>
                <a:spcPts val="4625"/>
              </a:lnSpc>
            </a:pPr>
            <a:r>
              <a:rPr lang="en-US" sz="3708" dirty="0">
                <a:solidFill>
                  <a:srgbClr val="1B1B27"/>
                </a:solidFill>
                <a:latin typeface="Raleway" pitchFamily="34" charset="0"/>
                <a:ea typeface="Raleway" pitchFamily="34" charset="-122"/>
                <a:cs typeface="Raleway" pitchFamily="34" charset="-120"/>
              </a:rPr>
              <a:t>AI-Powered </a:t>
            </a:r>
          </a:p>
          <a:p>
            <a:pPr>
              <a:lnSpc>
                <a:spcPts val="4625"/>
              </a:lnSpc>
            </a:pPr>
            <a:r>
              <a:rPr lang="en-US" sz="3708" dirty="0">
                <a:solidFill>
                  <a:srgbClr val="1B1B27"/>
                </a:solidFill>
                <a:latin typeface="Raleway" pitchFamily="34" charset="0"/>
                <a:ea typeface="Raleway" pitchFamily="34" charset="-122"/>
                <a:cs typeface="Raleway" pitchFamily="34" charset="-120"/>
              </a:rPr>
              <a:t>Software Version</a:t>
            </a:r>
          </a:p>
          <a:p>
            <a:pPr>
              <a:lnSpc>
                <a:spcPts val="4625"/>
              </a:lnSpc>
            </a:pPr>
            <a:r>
              <a:rPr lang="en-US" sz="3708" dirty="0">
                <a:solidFill>
                  <a:srgbClr val="1B1B27"/>
                </a:solidFill>
                <a:latin typeface="Raleway" pitchFamily="34" charset="0"/>
                <a:ea typeface="Raleway" pitchFamily="34" charset="-122"/>
                <a:cs typeface="Raleway" pitchFamily="34" charset="-120"/>
              </a:rPr>
              <a:t>Review for Release</a:t>
            </a:r>
            <a:endParaRPr lang="en-US" sz="3708" dirty="0"/>
          </a:p>
        </p:txBody>
      </p:sp>
      <p:sp>
        <p:nvSpPr>
          <p:cNvPr id="4" name="Subtitle 2">
            <a:extLst>
              <a:ext uri="{FF2B5EF4-FFF2-40B4-BE49-F238E27FC236}">
                <a16:creationId xmlns:a16="http://schemas.microsoft.com/office/drawing/2014/main" id="{BE0C5530-E0AB-D702-DE7E-EEC8C3BF3AB0}"/>
              </a:ext>
            </a:extLst>
          </p:cNvPr>
          <p:cNvSpPr txBox="1">
            <a:spLocks/>
          </p:cNvSpPr>
          <p:nvPr/>
        </p:nvSpPr>
        <p:spPr>
          <a:xfrm>
            <a:off x="489391" y="5219700"/>
            <a:ext cx="4527031" cy="736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Dec 2025</a:t>
            </a:r>
            <a:endParaRPr lang="en-US" dirty="0"/>
          </a:p>
        </p:txBody>
      </p:sp>
      <p:pic>
        <p:nvPicPr>
          <p:cNvPr id="5" name="Image 0" descr="preencoded.png">
            <a:extLst>
              <a:ext uri="{FF2B5EF4-FFF2-40B4-BE49-F238E27FC236}">
                <a16:creationId xmlns:a16="http://schemas.microsoft.com/office/drawing/2014/main" id="{987453EC-14BB-56F7-1950-E29BC2662281}"/>
              </a:ext>
            </a:extLst>
          </p:cNvPr>
          <p:cNvPicPr>
            <a:picLocks noChangeAspect="1"/>
          </p:cNvPicPr>
          <p:nvPr/>
        </p:nvPicPr>
        <p:blipFill>
          <a:blip r:embed="rId3"/>
          <a:stretch>
            <a:fillRect/>
          </a:stretch>
        </p:blipFill>
        <p:spPr>
          <a:xfrm>
            <a:off x="7620000" y="0"/>
            <a:ext cx="4572000" cy="6301212"/>
          </a:xfrm>
          <a:prstGeom prst="rect">
            <a:avLst/>
          </a:prstGeom>
        </p:spPr>
      </p:pic>
      <p:pic>
        <p:nvPicPr>
          <p:cNvPr id="6" name="Picture 5">
            <a:extLst>
              <a:ext uri="{FF2B5EF4-FFF2-40B4-BE49-F238E27FC236}">
                <a16:creationId xmlns:a16="http://schemas.microsoft.com/office/drawing/2014/main" id="{28450778-E683-360E-1C82-6132F40AAAE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3249" y="586456"/>
            <a:ext cx="1706814" cy="639147"/>
          </a:xfrm>
          <a:prstGeom prst="rect">
            <a:avLst/>
          </a:prstGeom>
        </p:spPr>
      </p:pic>
      <p:sp>
        <p:nvSpPr>
          <p:cNvPr id="7" name="Subtitle 2">
            <a:extLst>
              <a:ext uri="{FF2B5EF4-FFF2-40B4-BE49-F238E27FC236}">
                <a16:creationId xmlns:a16="http://schemas.microsoft.com/office/drawing/2014/main" id="{6C1BF3F6-83FF-CE3A-909F-44BB50AED21C}"/>
              </a:ext>
            </a:extLst>
          </p:cNvPr>
          <p:cNvSpPr txBox="1">
            <a:spLocks/>
          </p:cNvSpPr>
          <p:nvPr/>
        </p:nvSpPr>
        <p:spPr>
          <a:xfrm>
            <a:off x="489391" y="4265817"/>
            <a:ext cx="4527031" cy="736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Seungtae Nam, Hanmiru Lee, Hyejoo Lee, Wongu Kang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500362" y="822850"/>
            <a:ext cx="19050" cy="5491559"/>
          </a:xfrm>
          <a:prstGeom prst="roundRect">
            <a:avLst>
              <a:gd name="adj" fmla="val 297200"/>
            </a:avLst>
          </a:prstGeom>
          <a:solidFill>
            <a:srgbClr val="C7C7D0"/>
          </a:solidFill>
          <a:ln/>
        </p:spPr>
        <p:txBody>
          <a:bodyPr/>
          <a:lstStyle/>
          <a:p>
            <a:endParaRPr lang="en-US" sz="1250"/>
          </a:p>
        </p:txBody>
      </p:sp>
      <p:sp>
        <p:nvSpPr>
          <p:cNvPr id="4" name="Shape 2"/>
          <p:cNvSpPr/>
          <p:nvPr/>
        </p:nvSpPr>
        <p:spPr>
          <a:xfrm>
            <a:off x="481312" y="964931"/>
            <a:ext cx="269578" cy="19050"/>
          </a:xfrm>
          <a:prstGeom prst="roundRect">
            <a:avLst>
              <a:gd name="adj" fmla="val 297200"/>
            </a:avLst>
          </a:prstGeom>
          <a:solidFill>
            <a:srgbClr val="C7C7D0"/>
          </a:solidFill>
          <a:ln/>
        </p:spPr>
        <p:txBody>
          <a:bodyPr/>
          <a:lstStyle/>
          <a:p>
            <a:endParaRPr lang="en-US" sz="1250"/>
          </a:p>
        </p:txBody>
      </p:sp>
      <p:sp>
        <p:nvSpPr>
          <p:cNvPr id="5" name="Shape 3"/>
          <p:cNvSpPr/>
          <p:nvPr/>
        </p:nvSpPr>
        <p:spPr>
          <a:xfrm>
            <a:off x="449860" y="923953"/>
            <a:ext cx="101005" cy="101005"/>
          </a:xfrm>
          <a:prstGeom prst="roundRect">
            <a:avLst>
              <a:gd name="adj" fmla="val 377209"/>
            </a:avLst>
          </a:prstGeom>
          <a:solidFill>
            <a:srgbClr val="1B1B27"/>
          </a:solidFill>
          <a:ln/>
        </p:spPr>
        <p:txBody>
          <a:bodyPr/>
          <a:lstStyle/>
          <a:p>
            <a:endParaRPr lang="en-US" sz="1250"/>
          </a:p>
        </p:txBody>
      </p:sp>
      <p:sp>
        <p:nvSpPr>
          <p:cNvPr id="6" name="Text 4"/>
          <p:cNvSpPr/>
          <p:nvPr/>
        </p:nvSpPr>
        <p:spPr>
          <a:xfrm>
            <a:off x="1039616" y="869185"/>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The Challenge</a:t>
            </a:r>
            <a:endParaRPr lang="en-US" sz="1292" dirty="0"/>
          </a:p>
        </p:txBody>
      </p:sp>
      <p:sp>
        <p:nvSpPr>
          <p:cNvPr id="7" name="Text 5"/>
          <p:cNvSpPr/>
          <p:nvPr/>
        </p:nvSpPr>
        <p:spPr>
          <a:xfrm>
            <a:off x="1039617" y="1160590"/>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Identifying current bottlenecks in traditional version review.</a:t>
            </a:r>
            <a:endParaRPr lang="en-US" sz="1042" dirty="0"/>
          </a:p>
        </p:txBody>
      </p:sp>
      <p:sp>
        <p:nvSpPr>
          <p:cNvPr id="8" name="Shape 6"/>
          <p:cNvSpPr/>
          <p:nvPr/>
        </p:nvSpPr>
        <p:spPr>
          <a:xfrm>
            <a:off x="481312" y="1787951"/>
            <a:ext cx="269578" cy="19050"/>
          </a:xfrm>
          <a:prstGeom prst="roundRect">
            <a:avLst>
              <a:gd name="adj" fmla="val 297200"/>
            </a:avLst>
          </a:prstGeom>
          <a:solidFill>
            <a:srgbClr val="C7C7D0"/>
          </a:solidFill>
          <a:ln/>
        </p:spPr>
        <p:txBody>
          <a:bodyPr/>
          <a:lstStyle/>
          <a:p>
            <a:endParaRPr lang="en-US" sz="1250"/>
          </a:p>
        </p:txBody>
      </p:sp>
      <p:sp>
        <p:nvSpPr>
          <p:cNvPr id="9" name="Shape 7"/>
          <p:cNvSpPr/>
          <p:nvPr/>
        </p:nvSpPr>
        <p:spPr>
          <a:xfrm>
            <a:off x="449860" y="1746973"/>
            <a:ext cx="101005" cy="101005"/>
          </a:xfrm>
          <a:prstGeom prst="roundRect">
            <a:avLst>
              <a:gd name="adj" fmla="val 377209"/>
            </a:avLst>
          </a:prstGeom>
          <a:solidFill>
            <a:srgbClr val="1B1B27"/>
          </a:solidFill>
          <a:ln/>
        </p:spPr>
        <p:txBody>
          <a:bodyPr/>
          <a:lstStyle/>
          <a:p>
            <a:endParaRPr lang="en-US" sz="1250"/>
          </a:p>
        </p:txBody>
      </p:sp>
      <p:sp>
        <p:nvSpPr>
          <p:cNvPr id="10" name="Text 8"/>
          <p:cNvSpPr/>
          <p:nvPr/>
        </p:nvSpPr>
        <p:spPr>
          <a:xfrm>
            <a:off x="1039616" y="1692204"/>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AI Revolution</a:t>
            </a:r>
            <a:endParaRPr lang="en-US" sz="1292" dirty="0"/>
          </a:p>
        </p:txBody>
      </p:sp>
      <p:sp>
        <p:nvSpPr>
          <p:cNvPr id="11" name="Text 9"/>
          <p:cNvSpPr/>
          <p:nvPr/>
        </p:nvSpPr>
        <p:spPr>
          <a:xfrm>
            <a:off x="1083467" y="1993565"/>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How AI fundamentally changes review efficiency and quality.</a:t>
            </a:r>
            <a:endParaRPr lang="en-US" sz="1042" dirty="0"/>
          </a:p>
        </p:txBody>
      </p:sp>
      <p:sp>
        <p:nvSpPr>
          <p:cNvPr id="12" name="Shape 10"/>
          <p:cNvSpPr/>
          <p:nvPr/>
        </p:nvSpPr>
        <p:spPr>
          <a:xfrm>
            <a:off x="481312" y="2610970"/>
            <a:ext cx="269578" cy="19050"/>
          </a:xfrm>
          <a:prstGeom prst="roundRect">
            <a:avLst>
              <a:gd name="adj" fmla="val 297200"/>
            </a:avLst>
          </a:prstGeom>
          <a:solidFill>
            <a:srgbClr val="C7C7D0"/>
          </a:solidFill>
          <a:ln/>
        </p:spPr>
        <p:txBody>
          <a:bodyPr/>
          <a:lstStyle/>
          <a:p>
            <a:endParaRPr lang="en-US" sz="1250"/>
          </a:p>
        </p:txBody>
      </p:sp>
      <p:sp>
        <p:nvSpPr>
          <p:cNvPr id="13" name="Shape 11"/>
          <p:cNvSpPr/>
          <p:nvPr/>
        </p:nvSpPr>
        <p:spPr>
          <a:xfrm>
            <a:off x="449860" y="2569992"/>
            <a:ext cx="101005" cy="101005"/>
          </a:xfrm>
          <a:prstGeom prst="roundRect">
            <a:avLst>
              <a:gd name="adj" fmla="val 377209"/>
            </a:avLst>
          </a:prstGeom>
          <a:solidFill>
            <a:srgbClr val="1B1B27"/>
          </a:solidFill>
          <a:ln/>
        </p:spPr>
        <p:txBody>
          <a:bodyPr/>
          <a:lstStyle/>
          <a:p>
            <a:endParaRPr lang="en-US" sz="1250"/>
          </a:p>
        </p:txBody>
      </p:sp>
      <p:sp>
        <p:nvSpPr>
          <p:cNvPr id="14" name="Text 12"/>
          <p:cNvSpPr/>
          <p:nvPr/>
        </p:nvSpPr>
        <p:spPr>
          <a:xfrm>
            <a:off x="1039616" y="2515224"/>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Key AI Tools</a:t>
            </a:r>
            <a:endParaRPr lang="en-US" sz="1292" dirty="0"/>
          </a:p>
        </p:txBody>
      </p:sp>
      <p:sp>
        <p:nvSpPr>
          <p:cNvPr id="15" name="Text 13"/>
          <p:cNvSpPr/>
          <p:nvPr/>
        </p:nvSpPr>
        <p:spPr>
          <a:xfrm>
            <a:off x="1039617" y="2806629"/>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Deep dive into LLM and RAG</a:t>
            </a:r>
            <a:endParaRPr lang="en-US" sz="1042" dirty="0"/>
          </a:p>
        </p:txBody>
      </p:sp>
      <p:sp>
        <p:nvSpPr>
          <p:cNvPr id="16" name="Shape 14"/>
          <p:cNvSpPr/>
          <p:nvPr/>
        </p:nvSpPr>
        <p:spPr>
          <a:xfrm>
            <a:off x="481312" y="3433990"/>
            <a:ext cx="269578" cy="19050"/>
          </a:xfrm>
          <a:prstGeom prst="roundRect">
            <a:avLst>
              <a:gd name="adj" fmla="val 297200"/>
            </a:avLst>
          </a:prstGeom>
          <a:solidFill>
            <a:srgbClr val="C7C7D0"/>
          </a:solidFill>
          <a:ln/>
        </p:spPr>
        <p:txBody>
          <a:bodyPr/>
          <a:lstStyle/>
          <a:p>
            <a:endParaRPr lang="en-US" sz="1250"/>
          </a:p>
        </p:txBody>
      </p:sp>
      <p:sp>
        <p:nvSpPr>
          <p:cNvPr id="17" name="Shape 15"/>
          <p:cNvSpPr/>
          <p:nvPr/>
        </p:nvSpPr>
        <p:spPr>
          <a:xfrm>
            <a:off x="449860" y="3393012"/>
            <a:ext cx="101005" cy="101005"/>
          </a:xfrm>
          <a:prstGeom prst="roundRect">
            <a:avLst>
              <a:gd name="adj" fmla="val 377209"/>
            </a:avLst>
          </a:prstGeom>
          <a:solidFill>
            <a:srgbClr val="1B1B27"/>
          </a:solidFill>
          <a:ln/>
        </p:spPr>
        <p:txBody>
          <a:bodyPr/>
          <a:lstStyle/>
          <a:p>
            <a:endParaRPr lang="en-US" sz="1250"/>
          </a:p>
        </p:txBody>
      </p:sp>
      <p:sp>
        <p:nvSpPr>
          <p:cNvPr id="18" name="Text 16"/>
          <p:cNvSpPr/>
          <p:nvPr/>
        </p:nvSpPr>
        <p:spPr>
          <a:xfrm>
            <a:off x="1039616" y="3338243"/>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Case Study</a:t>
            </a:r>
            <a:endParaRPr lang="en-US" sz="1292" dirty="0"/>
          </a:p>
        </p:txBody>
      </p:sp>
      <p:sp>
        <p:nvSpPr>
          <p:cNvPr id="19" name="Text 17"/>
          <p:cNvSpPr/>
          <p:nvPr/>
        </p:nvSpPr>
        <p:spPr>
          <a:xfrm>
            <a:off x="1039617" y="3629649"/>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Real-world examples of faster and more accurate reviews.</a:t>
            </a:r>
            <a:endParaRPr lang="en-US" sz="1042" dirty="0"/>
          </a:p>
        </p:txBody>
      </p:sp>
      <p:sp>
        <p:nvSpPr>
          <p:cNvPr id="20" name="Shape 18"/>
          <p:cNvSpPr/>
          <p:nvPr/>
        </p:nvSpPr>
        <p:spPr>
          <a:xfrm>
            <a:off x="481312" y="4257009"/>
            <a:ext cx="269578" cy="19050"/>
          </a:xfrm>
          <a:prstGeom prst="roundRect">
            <a:avLst>
              <a:gd name="adj" fmla="val 297200"/>
            </a:avLst>
          </a:prstGeom>
          <a:solidFill>
            <a:srgbClr val="C7C7D0"/>
          </a:solidFill>
          <a:ln/>
        </p:spPr>
        <p:txBody>
          <a:bodyPr/>
          <a:lstStyle/>
          <a:p>
            <a:endParaRPr lang="en-US" sz="1250"/>
          </a:p>
        </p:txBody>
      </p:sp>
      <p:sp>
        <p:nvSpPr>
          <p:cNvPr id="21" name="Shape 19"/>
          <p:cNvSpPr/>
          <p:nvPr/>
        </p:nvSpPr>
        <p:spPr>
          <a:xfrm>
            <a:off x="449860" y="4216031"/>
            <a:ext cx="101005" cy="101005"/>
          </a:xfrm>
          <a:prstGeom prst="roundRect">
            <a:avLst>
              <a:gd name="adj" fmla="val 377209"/>
            </a:avLst>
          </a:prstGeom>
          <a:solidFill>
            <a:srgbClr val="1B1B27"/>
          </a:solidFill>
          <a:ln/>
        </p:spPr>
        <p:txBody>
          <a:bodyPr/>
          <a:lstStyle/>
          <a:p>
            <a:endParaRPr lang="en-US" sz="1250"/>
          </a:p>
        </p:txBody>
      </p:sp>
      <p:sp>
        <p:nvSpPr>
          <p:cNvPr id="22" name="Text 20"/>
          <p:cNvSpPr/>
          <p:nvPr/>
        </p:nvSpPr>
        <p:spPr>
          <a:xfrm>
            <a:off x="1039616" y="4161263"/>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AI-Powered Version Review Overall Workflow</a:t>
            </a:r>
          </a:p>
          <a:p>
            <a:pPr>
              <a:lnSpc>
                <a:spcPts val="1625"/>
              </a:lnSpc>
            </a:pPr>
            <a:endParaRPr lang="en-US" sz="1292" dirty="0"/>
          </a:p>
        </p:txBody>
      </p:sp>
      <p:sp>
        <p:nvSpPr>
          <p:cNvPr id="23" name="Text 21"/>
          <p:cNvSpPr/>
          <p:nvPr/>
        </p:nvSpPr>
        <p:spPr>
          <a:xfrm>
            <a:off x="1039617" y="4452668"/>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A simple diagram describes how a new review system works</a:t>
            </a:r>
            <a:endParaRPr lang="en-US" sz="1042" dirty="0"/>
          </a:p>
        </p:txBody>
      </p:sp>
      <p:sp>
        <p:nvSpPr>
          <p:cNvPr id="24" name="Shape 22"/>
          <p:cNvSpPr/>
          <p:nvPr/>
        </p:nvSpPr>
        <p:spPr>
          <a:xfrm>
            <a:off x="481312" y="5080028"/>
            <a:ext cx="269578" cy="19050"/>
          </a:xfrm>
          <a:prstGeom prst="roundRect">
            <a:avLst>
              <a:gd name="adj" fmla="val 297200"/>
            </a:avLst>
          </a:prstGeom>
          <a:solidFill>
            <a:srgbClr val="C7C7D0"/>
          </a:solidFill>
          <a:ln/>
        </p:spPr>
        <p:txBody>
          <a:bodyPr/>
          <a:lstStyle/>
          <a:p>
            <a:endParaRPr lang="en-US" sz="1250"/>
          </a:p>
        </p:txBody>
      </p:sp>
      <p:sp>
        <p:nvSpPr>
          <p:cNvPr id="25" name="Shape 23"/>
          <p:cNvSpPr/>
          <p:nvPr/>
        </p:nvSpPr>
        <p:spPr>
          <a:xfrm>
            <a:off x="449860" y="5039051"/>
            <a:ext cx="101005" cy="101005"/>
          </a:xfrm>
          <a:prstGeom prst="roundRect">
            <a:avLst>
              <a:gd name="adj" fmla="val 377209"/>
            </a:avLst>
          </a:prstGeom>
          <a:solidFill>
            <a:srgbClr val="1B1B27"/>
          </a:solidFill>
          <a:ln/>
        </p:spPr>
        <p:txBody>
          <a:bodyPr/>
          <a:lstStyle/>
          <a:p>
            <a:endParaRPr lang="en-US" sz="1250"/>
          </a:p>
        </p:txBody>
      </p:sp>
      <p:sp>
        <p:nvSpPr>
          <p:cNvPr id="26" name="Text 24"/>
          <p:cNvSpPr/>
          <p:nvPr/>
        </p:nvSpPr>
        <p:spPr>
          <a:xfrm>
            <a:off x="1039616" y="4984282"/>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Team Adoption</a:t>
            </a:r>
            <a:endParaRPr lang="en-US" sz="1292" dirty="0"/>
          </a:p>
        </p:txBody>
      </p:sp>
      <p:sp>
        <p:nvSpPr>
          <p:cNvPr id="27" name="Text 25"/>
          <p:cNvSpPr/>
          <p:nvPr/>
        </p:nvSpPr>
        <p:spPr>
          <a:xfrm>
            <a:off x="1039617" y="5275688"/>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Fostering a culture of continuous AI integration.</a:t>
            </a:r>
            <a:endParaRPr lang="en-US" sz="1042" dirty="0"/>
          </a:p>
        </p:txBody>
      </p:sp>
      <p:sp>
        <p:nvSpPr>
          <p:cNvPr id="28" name="Shape 26"/>
          <p:cNvSpPr/>
          <p:nvPr/>
        </p:nvSpPr>
        <p:spPr>
          <a:xfrm>
            <a:off x="481312" y="5903048"/>
            <a:ext cx="269578" cy="19050"/>
          </a:xfrm>
          <a:prstGeom prst="roundRect">
            <a:avLst>
              <a:gd name="adj" fmla="val 297200"/>
            </a:avLst>
          </a:prstGeom>
          <a:solidFill>
            <a:srgbClr val="C7C7D0"/>
          </a:solidFill>
          <a:ln/>
        </p:spPr>
        <p:txBody>
          <a:bodyPr/>
          <a:lstStyle/>
          <a:p>
            <a:endParaRPr lang="en-US" sz="1250"/>
          </a:p>
        </p:txBody>
      </p:sp>
      <p:sp>
        <p:nvSpPr>
          <p:cNvPr id="29" name="Shape 27"/>
          <p:cNvSpPr/>
          <p:nvPr/>
        </p:nvSpPr>
        <p:spPr>
          <a:xfrm>
            <a:off x="449860" y="5862071"/>
            <a:ext cx="101005" cy="101005"/>
          </a:xfrm>
          <a:prstGeom prst="roundRect">
            <a:avLst>
              <a:gd name="adj" fmla="val 377209"/>
            </a:avLst>
          </a:prstGeom>
          <a:solidFill>
            <a:srgbClr val="1B1B27"/>
          </a:solidFill>
          <a:ln/>
        </p:spPr>
        <p:txBody>
          <a:bodyPr/>
          <a:lstStyle/>
          <a:p>
            <a:endParaRPr lang="en-US" sz="1250"/>
          </a:p>
        </p:txBody>
      </p:sp>
      <p:sp>
        <p:nvSpPr>
          <p:cNvPr id="30" name="Text 28"/>
          <p:cNvSpPr/>
          <p:nvPr/>
        </p:nvSpPr>
        <p:spPr>
          <a:xfrm>
            <a:off x="1039616" y="5807302"/>
            <a:ext cx="1684933" cy="210543"/>
          </a:xfrm>
          <a:prstGeom prst="rect">
            <a:avLst/>
          </a:prstGeom>
          <a:noFill/>
          <a:ln/>
        </p:spPr>
        <p:txBody>
          <a:bodyPr wrap="none" lIns="0" tIns="0" rIns="0" bIns="0" rtlCol="0" anchor="t"/>
          <a:lstStyle/>
          <a:p>
            <a:pPr>
              <a:lnSpc>
                <a:spcPts val="1625"/>
              </a:lnSpc>
            </a:pPr>
            <a:r>
              <a:rPr lang="en-US" sz="1292" dirty="0">
                <a:solidFill>
                  <a:srgbClr val="3C3939"/>
                </a:solidFill>
                <a:latin typeface="Raleway" pitchFamily="34" charset="0"/>
                <a:ea typeface="Raleway" pitchFamily="34" charset="-122"/>
                <a:cs typeface="Raleway" pitchFamily="34" charset="-120"/>
              </a:rPr>
              <a:t>Next Steps</a:t>
            </a:r>
            <a:endParaRPr lang="en-US" sz="1292" dirty="0"/>
          </a:p>
        </p:txBody>
      </p:sp>
      <p:sp>
        <p:nvSpPr>
          <p:cNvPr id="31" name="Text 29"/>
          <p:cNvSpPr/>
          <p:nvPr/>
        </p:nvSpPr>
        <p:spPr>
          <a:xfrm>
            <a:off x="1039617" y="6098707"/>
            <a:ext cx="10608171" cy="215702"/>
          </a:xfrm>
          <a:prstGeom prst="rect">
            <a:avLst/>
          </a:prstGeom>
          <a:noFill/>
          <a:ln/>
        </p:spPr>
        <p:txBody>
          <a:bodyPr wrap="none" lIns="0" tIns="0" rIns="0" bIns="0" rtlCol="0" anchor="t"/>
          <a:lstStyle/>
          <a:p>
            <a:pPr>
              <a:lnSpc>
                <a:spcPts val="1667"/>
              </a:lnSpc>
            </a:pPr>
            <a:r>
              <a:rPr lang="en-US" sz="1042" dirty="0">
                <a:solidFill>
                  <a:srgbClr val="3C3939"/>
                </a:solidFill>
                <a:latin typeface="Roboto" pitchFamily="34" charset="0"/>
                <a:ea typeface="Roboto" pitchFamily="34" charset="-122"/>
                <a:cs typeface="Roboto" pitchFamily="34" charset="-120"/>
              </a:rPr>
              <a:t>Integrating AI-enhanced review into our pipeline.</a:t>
            </a:r>
            <a:endParaRPr lang="en-US" sz="1042" dirty="0"/>
          </a:p>
        </p:txBody>
      </p:sp>
      <p:sp>
        <p:nvSpPr>
          <p:cNvPr id="32" name="Title 1">
            <a:extLst>
              <a:ext uri="{FF2B5EF4-FFF2-40B4-BE49-F238E27FC236}">
                <a16:creationId xmlns:a16="http://schemas.microsoft.com/office/drawing/2014/main" id="{686E59A2-A95C-064B-5582-AC527EC35CB0}"/>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B4AAB53-113F-C0F5-F635-719143833555}"/>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00"/>
              </a:lnSpc>
            </a:pPr>
            <a:r>
              <a:rPr lang="en-US" sz="2400" dirty="0">
                <a:solidFill>
                  <a:srgbClr val="1B1B27"/>
                </a:solidFill>
                <a:latin typeface="Raleway" pitchFamily="34" charset="0"/>
                <a:ea typeface="Raleway" pitchFamily="34" charset="-122"/>
                <a:cs typeface="Raleway" pitchFamily="34" charset="-120"/>
              </a:rPr>
              <a:t>The Challenge: Traditional Version Review Bottlenecks</a:t>
            </a:r>
            <a:endParaRPr lang="en-US" sz="2400" dirty="0"/>
          </a:p>
        </p:txBody>
      </p:sp>
      <p:pic>
        <p:nvPicPr>
          <p:cNvPr id="16" name="Picture 15">
            <a:extLst>
              <a:ext uri="{FF2B5EF4-FFF2-40B4-BE49-F238E27FC236}">
                <a16:creationId xmlns:a16="http://schemas.microsoft.com/office/drawing/2014/main" id="{68425BCB-2D72-B104-B75D-1957BBFE2040}"/>
              </a:ext>
            </a:extLst>
          </p:cNvPr>
          <p:cNvPicPr>
            <a:picLocks noChangeAspect="1"/>
          </p:cNvPicPr>
          <p:nvPr/>
        </p:nvPicPr>
        <p:blipFill>
          <a:blip r:embed="rId3"/>
          <a:stretch>
            <a:fillRect/>
          </a:stretch>
        </p:blipFill>
        <p:spPr>
          <a:xfrm>
            <a:off x="821094" y="946679"/>
            <a:ext cx="10343630" cy="49646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1"/>
            <a:ext cx="4572000" cy="6373640"/>
          </a:xfrm>
          <a:prstGeom prst="rect">
            <a:avLst/>
          </a:prstGeom>
        </p:spPr>
      </p:pic>
      <p:sp>
        <p:nvSpPr>
          <p:cNvPr id="3" name="Text 0"/>
          <p:cNvSpPr/>
          <p:nvPr/>
        </p:nvSpPr>
        <p:spPr>
          <a:xfrm>
            <a:off x="431404" y="231230"/>
            <a:ext cx="7092026" cy="770334"/>
          </a:xfrm>
          <a:prstGeom prst="rect">
            <a:avLst/>
          </a:prstGeom>
          <a:noFill/>
          <a:ln/>
        </p:spPr>
        <p:txBody>
          <a:bodyPr wrap="square" lIns="0" tIns="0" rIns="0" bIns="0" rtlCol="0" anchor="t"/>
          <a:lstStyle/>
          <a:p>
            <a:pPr>
              <a:lnSpc>
                <a:spcPts val="3000"/>
              </a:lnSpc>
            </a:pPr>
            <a:endParaRPr lang="en-US" sz="2417" dirty="0"/>
          </a:p>
        </p:txBody>
      </p:sp>
      <p:sp>
        <p:nvSpPr>
          <p:cNvPr id="4" name="Shape 1"/>
          <p:cNvSpPr/>
          <p:nvPr/>
        </p:nvSpPr>
        <p:spPr>
          <a:xfrm>
            <a:off x="431404" y="868605"/>
            <a:ext cx="6757194" cy="1215827"/>
          </a:xfrm>
          <a:prstGeom prst="roundRect">
            <a:avLst>
              <a:gd name="adj" fmla="val 4258"/>
            </a:avLst>
          </a:prstGeom>
          <a:solidFill>
            <a:srgbClr val="E1E1EA"/>
          </a:solidFill>
          <a:ln w="7620">
            <a:solidFill>
              <a:srgbClr val="C7C7D0"/>
            </a:solidFill>
            <a:prstDash val="solid"/>
          </a:ln>
        </p:spPr>
        <p:txBody>
          <a:bodyPr/>
          <a:lstStyle/>
          <a:p>
            <a:endParaRPr lang="en-US" sz="1250"/>
          </a:p>
        </p:txBody>
      </p:sp>
      <p:sp>
        <p:nvSpPr>
          <p:cNvPr id="5" name="Shape 2"/>
          <p:cNvSpPr/>
          <p:nvPr/>
        </p:nvSpPr>
        <p:spPr>
          <a:xfrm>
            <a:off x="560983" y="998185"/>
            <a:ext cx="369788" cy="369788"/>
          </a:xfrm>
          <a:prstGeom prst="roundRect">
            <a:avLst>
              <a:gd name="adj" fmla="val 20604322"/>
            </a:avLst>
          </a:prstGeom>
          <a:solidFill>
            <a:srgbClr val="1B1B27"/>
          </a:solidFill>
          <a:ln/>
        </p:spPr>
        <p:txBody>
          <a:bodyPr/>
          <a:lstStyle/>
          <a:p>
            <a:endParaRPr lang="en-US" sz="125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2682" y="1099785"/>
            <a:ext cx="166390" cy="166390"/>
          </a:xfrm>
          <a:prstGeom prst="rect">
            <a:avLst/>
          </a:prstGeom>
        </p:spPr>
      </p:pic>
      <p:sp>
        <p:nvSpPr>
          <p:cNvPr id="7" name="Text 3"/>
          <p:cNvSpPr/>
          <p:nvPr/>
        </p:nvSpPr>
        <p:spPr>
          <a:xfrm>
            <a:off x="560983" y="1491203"/>
            <a:ext cx="1540768" cy="192583"/>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Instant Analysis</a:t>
            </a:r>
            <a:endParaRPr lang="en-US" sz="1208" dirty="0"/>
          </a:p>
        </p:txBody>
      </p:sp>
      <p:sp>
        <p:nvSpPr>
          <p:cNvPr id="8" name="Text 4"/>
          <p:cNvSpPr/>
          <p:nvPr/>
        </p:nvSpPr>
        <p:spPr>
          <a:xfrm>
            <a:off x="560983" y="1757704"/>
            <a:ext cx="6498034" cy="197148"/>
          </a:xfrm>
          <a:prstGeom prst="rect">
            <a:avLst/>
          </a:prstGeom>
          <a:noFill/>
          <a:ln/>
        </p:spPr>
        <p:txBody>
          <a:bodyPr wrap="none" lIns="0" tIns="0" rIns="0" bIns="0" rtlCol="0" anchor="t"/>
          <a:lstStyle/>
          <a:p>
            <a:pPr>
              <a:lnSpc>
                <a:spcPts val="1542"/>
              </a:lnSpc>
            </a:pPr>
            <a:r>
              <a:rPr lang="en-US" sz="958" dirty="0">
                <a:solidFill>
                  <a:srgbClr val="3C3939"/>
                </a:solidFill>
                <a:latin typeface="Roboto" pitchFamily="34" charset="0"/>
                <a:ea typeface="Roboto" pitchFamily="34" charset="-122"/>
                <a:cs typeface="Roboto" pitchFamily="34" charset="-120"/>
              </a:rPr>
              <a:t>Automated version scanning in seconds, not hours</a:t>
            </a:r>
            <a:endParaRPr lang="en-US" sz="958" dirty="0"/>
          </a:p>
        </p:txBody>
      </p:sp>
      <p:sp>
        <p:nvSpPr>
          <p:cNvPr id="9" name="Shape 5"/>
          <p:cNvSpPr/>
          <p:nvPr/>
        </p:nvSpPr>
        <p:spPr>
          <a:xfrm>
            <a:off x="431404" y="2207662"/>
            <a:ext cx="6757194" cy="1215827"/>
          </a:xfrm>
          <a:prstGeom prst="roundRect">
            <a:avLst>
              <a:gd name="adj" fmla="val 4258"/>
            </a:avLst>
          </a:prstGeom>
          <a:solidFill>
            <a:srgbClr val="E1E1EA"/>
          </a:solidFill>
          <a:ln w="7620">
            <a:solidFill>
              <a:srgbClr val="C7C7D0"/>
            </a:solidFill>
            <a:prstDash val="solid"/>
          </a:ln>
        </p:spPr>
        <p:txBody>
          <a:bodyPr/>
          <a:lstStyle/>
          <a:p>
            <a:endParaRPr lang="en-US" sz="1250"/>
          </a:p>
        </p:txBody>
      </p:sp>
      <p:sp>
        <p:nvSpPr>
          <p:cNvPr id="10" name="Shape 6"/>
          <p:cNvSpPr/>
          <p:nvPr/>
        </p:nvSpPr>
        <p:spPr>
          <a:xfrm>
            <a:off x="560983" y="2337241"/>
            <a:ext cx="369788" cy="369788"/>
          </a:xfrm>
          <a:prstGeom prst="roundRect">
            <a:avLst>
              <a:gd name="adj" fmla="val 20604322"/>
            </a:avLst>
          </a:prstGeom>
          <a:solidFill>
            <a:srgbClr val="1B1B27"/>
          </a:solidFill>
          <a:ln/>
        </p:spPr>
        <p:txBody>
          <a:bodyPr/>
          <a:lstStyle/>
          <a:p>
            <a:endParaRPr lang="en-US" sz="1250"/>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2682" y="2438841"/>
            <a:ext cx="166390" cy="166390"/>
          </a:xfrm>
          <a:prstGeom prst="rect">
            <a:avLst/>
          </a:prstGeom>
        </p:spPr>
      </p:pic>
      <p:sp>
        <p:nvSpPr>
          <p:cNvPr id="12" name="Text 7"/>
          <p:cNvSpPr/>
          <p:nvPr/>
        </p:nvSpPr>
        <p:spPr>
          <a:xfrm>
            <a:off x="560983" y="2830259"/>
            <a:ext cx="1540768" cy="192583"/>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Pattern Detection</a:t>
            </a:r>
            <a:endParaRPr lang="en-US" sz="1208" dirty="0"/>
          </a:p>
        </p:txBody>
      </p:sp>
      <p:sp>
        <p:nvSpPr>
          <p:cNvPr id="13" name="Text 8"/>
          <p:cNvSpPr/>
          <p:nvPr/>
        </p:nvSpPr>
        <p:spPr>
          <a:xfrm>
            <a:off x="560983" y="3096761"/>
            <a:ext cx="6498034" cy="197148"/>
          </a:xfrm>
          <a:prstGeom prst="rect">
            <a:avLst/>
          </a:prstGeom>
          <a:noFill/>
          <a:ln/>
        </p:spPr>
        <p:txBody>
          <a:bodyPr wrap="none" lIns="0" tIns="0" rIns="0" bIns="0" rtlCol="0" anchor="t"/>
          <a:lstStyle/>
          <a:p>
            <a:pPr>
              <a:lnSpc>
                <a:spcPts val="1542"/>
              </a:lnSpc>
            </a:pPr>
            <a:r>
              <a:rPr lang="en-US" sz="958" dirty="0">
                <a:solidFill>
                  <a:srgbClr val="3C3939"/>
                </a:solidFill>
                <a:latin typeface="Roboto" pitchFamily="34" charset="0"/>
                <a:ea typeface="Roboto" pitchFamily="34" charset="-122"/>
                <a:cs typeface="Roboto" pitchFamily="34" charset="-120"/>
              </a:rPr>
              <a:t>Identifies issues, potential effect, and inconsistency instantly</a:t>
            </a:r>
            <a:endParaRPr lang="en-US" sz="958" dirty="0"/>
          </a:p>
        </p:txBody>
      </p:sp>
      <p:sp>
        <p:nvSpPr>
          <p:cNvPr id="14" name="Shape 9"/>
          <p:cNvSpPr/>
          <p:nvPr/>
        </p:nvSpPr>
        <p:spPr>
          <a:xfrm>
            <a:off x="431404" y="3546717"/>
            <a:ext cx="6757194" cy="1215827"/>
          </a:xfrm>
          <a:prstGeom prst="roundRect">
            <a:avLst>
              <a:gd name="adj" fmla="val 4258"/>
            </a:avLst>
          </a:prstGeom>
          <a:solidFill>
            <a:srgbClr val="E1E1EA"/>
          </a:solidFill>
          <a:ln w="7620">
            <a:solidFill>
              <a:srgbClr val="C7C7D0"/>
            </a:solidFill>
            <a:prstDash val="solid"/>
          </a:ln>
        </p:spPr>
        <p:txBody>
          <a:bodyPr/>
          <a:lstStyle/>
          <a:p>
            <a:endParaRPr lang="en-US" sz="1250"/>
          </a:p>
        </p:txBody>
      </p:sp>
      <p:sp>
        <p:nvSpPr>
          <p:cNvPr id="15" name="Shape 10"/>
          <p:cNvSpPr/>
          <p:nvPr/>
        </p:nvSpPr>
        <p:spPr>
          <a:xfrm>
            <a:off x="560983" y="3676298"/>
            <a:ext cx="369788" cy="369788"/>
          </a:xfrm>
          <a:prstGeom prst="roundRect">
            <a:avLst>
              <a:gd name="adj" fmla="val 20604322"/>
            </a:avLst>
          </a:prstGeom>
          <a:solidFill>
            <a:srgbClr val="1B1B27"/>
          </a:solidFill>
          <a:ln/>
        </p:spPr>
        <p:txBody>
          <a:bodyPr/>
          <a:lstStyle/>
          <a:p>
            <a:endParaRPr lang="en-US" sz="1250"/>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2682" y="3777898"/>
            <a:ext cx="166390" cy="166390"/>
          </a:xfrm>
          <a:prstGeom prst="rect">
            <a:avLst/>
          </a:prstGeom>
        </p:spPr>
      </p:pic>
      <p:sp>
        <p:nvSpPr>
          <p:cNvPr id="17" name="Text 11"/>
          <p:cNvSpPr/>
          <p:nvPr/>
        </p:nvSpPr>
        <p:spPr>
          <a:xfrm>
            <a:off x="560983" y="4169315"/>
            <a:ext cx="1540768" cy="192583"/>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Quality Enhancement</a:t>
            </a:r>
            <a:endParaRPr lang="en-US" sz="1208" dirty="0"/>
          </a:p>
        </p:txBody>
      </p:sp>
      <p:sp>
        <p:nvSpPr>
          <p:cNvPr id="18" name="Text 12"/>
          <p:cNvSpPr/>
          <p:nvPr/>
        </p:nvSpPr>
        <p:spPr>
          <a:xfrm>
            <a:off x="560983" y="4435817"/>
            <a:ext cx="6498034" cy="197148"/>
          </a:xfrm>
          <a:prstGeom prst="rect">
            <a:avLst/>
          </a:prstGeom>
          <a:noFill/>
          <a:ln/>
        </p:spPr>
        <p:txBody>
          <a:bodyPr wrap="none" lIns="0" tIns="0" rIns="0" bIns="0" rtlCol="0" anchor="t"/>
          <a:lstStyle/>
          <a:p>
            <a:pPr>
              <a:lnSpc>
                <a:spcPts val="1542"/>
              </a:lnSpc>
            </a:pPr>
            <a:r>
              <a:rPr lang="en-US" sz="958" dirty="0">
                <a:solidFill>
                  <a:srgbClr val="3C3939"/>
                </a:solidFill>
                <a:latin typeface="Roboto" pitchFamily="34" charset="0"/>
                <a:ea typeface="Roboto" pitchFamily="34" charset="-122"/>
                <a:cs typeface="Roboto" pitchFamily="34" charset="-120"/>
              </a:rPr>
              <a:t>Suggests optimizations and best practices in real-time</a:t>
            </a:r>
            <a:endParaRPr lang="en-US" sz="958" dirty="0"/>
          </a:p>
        </p:txBody>
      </p:sp>
      <p:sp>
        <p:nvSpPr>
          <p:cNvPr id="19" name="Shape 13"/>
          <p:cNvSpPr/>
          <p:nvPr/>
        </p:nvSpPr>
        <p:spPr>
          <a:xfrm>
            <a:off x="431404" y="4885774"/>
            <a:ext cx="6757194" cy="1215827"/>
          </a:xfrm>
          <a:prstGeom prst="roundRect">
            <a:avLst>
              <a:gd name="adj" fmla="val 4258"/>
            </a:avLst>
          </a:prstGeom>
          <a:solidFill>
            <a:srgbClr val="E1E1EA"/>
          </a:solidFill>
          <a:ln w="7620">
            <a:solidFill>
              <a:srgbClr val="C7C7D0"/>
            </a:solidFill>
            <a:prstDash val="solid"/>
          </a:ln>
        </p:spPr>
        <p:txBody>
          <a:bodyPr/>
          <a:lstStyle/>
          <a:p>
            <a:endParaRPr lang="en-US" sz="1250"/>
          </a:p>
        </p:txBody>
      </p:sp>
      <p:sp>
        <p:nvSpPr>
          <p:cNvPr id="20" name="Shape 14"/>
          <p:cNvSpPr/>
          <p:nvPr/>
        </p:nvSpPr>
        <p:spPr>
          <a:xfrm>
            <a:off x="560983" y="5015354"/>
            <a:ext cx="369788" cy="369788"/>
          </a:xfrm>
          <a:prstGeom prst="roundRect">
            <a:avLst>
              <a:gd name="adj" fmla="val 20604322"/>
            </a:avLst>
          </a:prstGeom>
          <a:solidFill>
            <a:srgbClr val="1B1B27"/>
          </a:solidFill>
          <a:ln/>
        </p:spPr>
        <p:txBody>
          <a:bodyPr/>
          <a:lstStyle/>
          <a:p>
            <a:endParaRPr lang="en-US" sz="1250"/>
          </a:p>
        </p:txBody>
      </p:sp>
      <p:pic>
        <p:nvPicPr>
          <p:cNvPr id="2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2682" y="5116953"/>
            <a:ext cx="166390" cy="166390"/>
          </a:xfrm>
          <a:prstGeom prst="rect">
            <a:avLst/>
          </a:prstGeom>
        </p:spPr>
      </p:pic>
      <p:sp>
        <p:nvSpPr>
          <p:cNvPr id="22" name="Text 15"/>
          <p:cNvSpPr/>
          <p:nvPr/>
        </p:nvSpPr>
        <p:spPr>
          <a:xfrm>
            <a:off x="560983" y="5508372"/>
            <a:ext cx="1540768" cy="192583"/>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Team Consistency</a:t>
            </a:r>
            <a:endParaRPr lang="en-US" sz="1208" dirty="0"/>
          </a:p>
        </p:txBody>
      </p:sp>
      <p:sp>
        <p:nvSpPr>
          <p:cNvPr id="23" name="Text 16"/>
          <p:cNvSpPr/>
          <p:nvPr/>
        </p:nvSpPr>
        <p:spPr>
          <a:xfrm>
            <a:off x="560983" y="5774874"/>
            <a:ext cx="6498034" cy="197148"/>
          </a:xfrm>
          <a:prstGeom prst="rect">
            <a:avLst/>
          </a:prstGeom>
          <a:noFill/>
          <a:ln/>
        </p:spPr>
        <p:txBody>
          <a:bodyPr wrap="none" lIns="0" tIns="0" rIns="0" bIns="0" rtlCol="0" anchor="t"/>
          <a:lstStyle/>
          <a:p>
            <a:pPr>
              <a:lnSpc>
                <a:spcPts val="1542"/>
              </a:lnSpc>
            </a:pPr>
            <a:r>
              <a:rPr lang="en-US" sz="958" dirty="0">
                <a:solidFill>
                  <a:srgbClr val="3C3939"/>
                </a:solidFill>
                <a:latin typeface="Roboto" pitchFamily="34" charset="0"/>
                <a:ea typeface="Roboto" pitchFamily="34" charset="-122"/>
                <a:cs typeface="Roboto" pitchFamily="34" charset="-120"/>
              </a:rPr>
              <a:t>Enforces standards across all reviews automatically</a:t>
            </a:r>
            <a:endParaRPr lang="en-US" sz="958" dirty="0"/>
          </a:p>
        </p:txBody>
      </p:sp>
      <p:sp>
        <p:nvSpPr>
          <p:cNvPr id="24" name="Title 1">
            <a:extLst>
              <a:ext uri="{FF2B5EF4-FFF2-40B4-BE49-F238E27FC236}">
                <a16:creationId xmlns:a16="http://schemas.microsoft.com/office/drawing/2014/main" id="{D8341BC9-3157-9319-48F3-6F78FA36EFEA}"/>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3000"/>
              </a:lnSpc>
            </a:pPr>
            <a:r>
              <a:rPr lang="en-US" sz="2400" dirty="0">
                <a:solidFill>
                  <a:srgbClr val="1B1B27"/>
                </a:solidFill>
                <a:latin typeface="Raleway" pitchFamily="34" charset="0"/>
                <a:ea typeface="Raleway" pitchFamily="34" charset="-122"/>
                <a:cs typeface="Raleway" pitchFamily="34" charset="-120"/>
              </a:rPr>
              <a:t>AI Revolution: How AI Transforms Version Review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92" y="845543"/>
            <a:ext cx="5289451" cy="590649"/>
          </a:xfrm>
          <a:prstGeom prst="rect">
            <a:avLst/>
          </a:prstGeom>
          <a:noFill/>
          <a:ln/>
        </p:spPr>
        <p:txBody>
          <a:bodyPr wrap="none" lIns="0" tIns="0" rIns="0" bIns="0" rtlCol="0" anchor="t"/>
          <a:lstStyle/>
          <a:p>
            <a:pPr>
              <a:lnSpc>
                <a:spcPts val="4625"/>
              </a:lnSpc>
            </a:pPr>
            <a:r>
              <a:rPr lang="en-US" sz="3708" dirty="0">
                <a:solidFill>
                  <a:srgbClr val="1B1B27"/>
                </a:solidFill>
                <a:latin typeface="Raleway" pitchFamily="34" charset="0"/>
                <a:ea typeface="Raleway" pitchFamily="34" charset="-122"/>
                <a:cs typeface="Raleway" pitchFamily="34" charset="-120"/>
              </a:rPr>
              <a:t>Key AI Tools: LLM &amp; RAG</a:t>
            </a:r>
            <a:endParaRPr lang="en-US" sz="3708" dirty="0"/>
          </a:p>
        </p:txBody>
      </p:sp>
      <p:pic>
        <p:nvPicPr>
          <p:cNvPr id="3" name="Image 0" descr="preencoded.png"/>
          <p:cNvPicPr>
            <a:picLocks noChangeAspect="1"/>
          </p:cNvPicPr>
          <p:nvPr/>
        </p:nvPicPr>
        <p:blipFill>
          <a:blip r:embed="rId3"/>
          <a:stretch>
            <a:fillRect/>
          </a:stretch>
        </p:blipFill>
        <p:spPr>
          <a:xfrm>
            <a:off x="661492" y="1814215"/>
            <a:ext cx="5434508" cy="756047"/>
          </a:xfrm>
          <a:prstGeom prst="rect">
            <a:avLst/>
          </a:prstGeom>
        </p:spPr>
      </p:pic>
      <p:sp>
        <p:nvSpPr>
          <p:cNvPr id="4" name="Text 1"/>
          <p:cNvSpPr/>
          <p:nvPr/>
        </p:nvSpPr>
        <p:spPr>
          <a:xfrm>
            <a:off x="850504" y="2759273"/>
            <a:ext cx="2663924" cy="295275"/>
          </a:xfrm>
          <a:prstGeom prst="rect">
            <a:avLst/>
          </a:prstGeom>
          <a:noFill/>
          <a:ln/>
        </p:spPr>
        <p:txBody>
          <a:bodyPr wrap="none" lIns="0" tIns="0" rIns="0" bIns="0" rtlCol="0" anchor="t"/>
          <a:lstStyle/>
          <a:p>
            <a:pPr>
              <a:lnSpc>
                <a:spcPts val="2292"/>
              </a:lnSpc>
            </a:pPr>
            <a:r>
              <a:rPr lang="en-US" sz="1833" dirty="0">
                <a:solidFill>
                  <a:srgbClr val="3C3939"/>
                </a:solidFill>
                <a:latin typeface="Raleway" pitchFamily="34" charset="0"/>
                <a:ea typeface="Raleway" pitchFamily="34" charset="-122"/>
                <a:cs typeface="Raleway" pitchFamily="34" charset="-120"/>
              </a:rPr>
              <a:t>Large Language Models</a:t>
            </a:r>
            <a:endParaRPr lang="en-US" sz="1833" dirty="0"/>
          </a:p>
        </p:txBody>
      </p:sp>
      <p:sp>
        <p:nvSpPr>
          <p:cNvPr id="5" name="Text 2"/>
          <p:cNvSpPr/>
          <p:nvPr/>
        </p:nvSpPr>
        <p:spPr>
          <a:xfrm>
            <a:off x="850503" y="3167956"/>
            <a:ext cx="5056485" cy="604838"/>
          </a:xfrm>
          <a:prstGeom prst="rect">
            <a:avLst/>
          </a:prstGeom>
          <a:noFill/>
          <a:ln/>
        </p:spPr>
        <p:txBody>
          <a:bodyPr wrap="square" lIns="0" tIns="0" rIns="0" bIns="0" rtlCol="0" anchor="t"/>
          <a:lstStyle/>
          <a:p>
            <a:pPr>
              <a:lnSpc>
                <a:spcPts val="2375"/>
              </a:lnSpc>
            </a:pPr>
            <a:r>
              <a:rPr lang="en-US" sz="1458" dirty="0">
                <a:solidFill>
                  <a:srgbClr val="3C3939"/>
                </a:solidFill>
                <a:latin typeface="Roboto" pitchFamily="34" charset="0"/>
                <a:ea typeface="Roboto" pitchFamily="34" charset="-122"/>
                <a:cs typeface="Roboto" pitchFamily="34" charset="-120"/>
              </a:rPr>
              <a:t>Understands code context, suggests improvements, generates documentation</a:t>
            </a:r>
            <a:endParaRPr lang="en-US" sz="1458" dirty="0"/>
          </a:p>
        </p:txBody>
      </p:sp>
      <p:pic>
        <p:nvPicPr>
          <p:cNvPr id="6" name="Image 1" descr="preencoded.png"/>
          <p:cNvPicPr>
            <a:picLocks noChangeAspect="1"/>
          </p:cNvPicPr>
          <p:nvPr/>
        </p:nvPicPr>
        <p:blipFill>
          <a:blip r:embed="rId4"/>
          <a:stretch>
            <a:fillRect/>
          </a:stretch>
        </p:blipFill>
        <p:spPr>
          <a:xfrm>
            <a:off x="6096000" y="1814215"/>
            <a:ext cx="5434508" cy="756047"/>
          </a:xfrm>
          <a:prstGeom prst="rect">
            <a:avLst/>
          </a:prstGeom>
        </p:spPr>
      </p:pic>
      <p:sp>
        <p:nvSpPr>
          <p:cNvPr id="7" name="Text 3"/>
          <p:cNvSpPr/>
          <p:nvPr/>
        </p:nvSpPr>
        <p:spPr>
          <a:xfrm>
            <a:off x="6285012" y="2759273"/>
            <a:ext cx="3607793" cy="295275"/>
          </a:xfrm>
          <a:prstGeom prst="rect">
            <a:avLst/>
          </a:prstGeom>
          <a:noFill/>
          <a:ln/>
        </p:spPr>
        <p:txBody>
          <a:bodyPr wrap="none" lIns="0" tIns="0" rIns="0" bIns="0" rtlCol="0" anchor="t"/>
          <a:lstStyle/>
          <a:p>
            <a:pPr>
              <a:lnSpc>
                <a:spcPts val="2292"/>
              </a:lnSpc>
            </a:pPr>
            <a:r>
              <a:rPr lang="en-US" sz="1833" dirty="0">
                <a:solidFill>
                  <a:srgbClr val="3C3939"/>
                </a:solidFill>
                <a:latin typeface="Raleway" pitchFamily="34" charset="0"/>
                <a:ea typeface="Raleway" pitchFamily="34" charset="-122"/>
                <a:cs typeface="Raleway" pitchFamily="34" charset="-120"/>
              </a:rPr>
              <a:t>Retrieval-Augmented Generation</a:t>
            </a:r>
            <a:endParaRPr lang="en-US" sz="1833" dirty="0"/>
          </a:p>
        </p:txBody>
      </p:sp>
      <p:sp>
        <p:nvSpPr>
          <p:cNvPr id="8" name="Text 4"/>
          <p:cNvSpPr/>
          <p:nvPr/>
        </p:nvSpPr>
        <p:spPr>
          <a:xfrm>
            <a:off x="6285012" y="3167956"/>
            <a:ext cx="5056485" cy="604838"/>
          </a:xfrm>
          <a:prstGeom prst="rect">
            <a:avLst/>
          </a:prstGeom>
          <a:noFill/>
          <a:ln/>
        </p:spPr>
        <p:txBody>
          <a:bodyPr wrap="square" lIns="0" tIns="0" rIns="0" bIns="0" rtlCol="0" anchor="t"/>
          <a:lstStyle/>
          <a:p>
            <a:pPr>
              <a:lnSpc>
                <a:spcPts val="2375"/>
              </a:lnSpc>
            </a:pPr>
            <a:r>
              <a:rPr lang="en-US" sz="1458" dirty="0">
                <a:solidFill>
                  <a:srgbClr val="3C3939"/>
                </a:solidFill>
                <a:latin typeface="Roboto" pitchFamily="34" charset="0"/>
                <a:ea typeface="Roboto" pitchFamily="34" charset="-122"/>
                <a:cs typeface="Roboto" pitchFamily="34" charset="-120"/>
              </a:rPr>
              <a:t>Leverages organizational knowledge, past reviews, and best practices</a:t>
            </a:r>
            <a:endParaRPr lang="en-US" sz="1458" dirty="0"/>
          </a:p>
        </p:txBody>
      </p:sp>
      <p:sp>
        <p:nvSpPr>
          <p:cNvPr id="9" name="Text 5"/>
          <p:cNvSpPr/>
          <p:nvPr/>
        </p:nvSpPr>
        <p:spPr>
          <a:xfrm>
            <a:off x="661492" y="4363443"/>
            <a:ext cx="2835275" cy="354409"/>
          </a:xfrm>
          <a:prstGeom prst="rect">
            <a:avLst/>
          </a:prstGeom>
          <a:noFill/>
          <a:ln/>
        </p:spPr>
        <p:txBody>
          <a:bodyPr wrap="none" lIns="0" tIns="0" rIns="0" bIns="0" rtlCol="0" anchor="t"/>
          <a:lstStyle/>
          <a:p>
            <a:pPr>
              <a:lnSpc>
                <a:spcPts val="2750"/>
              </a:lnSpc>
            </a:pPr>
            <a:r>
              <a:rPr lang="en-US" sz="2208" dirty="0">
                <a:solidFill>
                  <a:srgbClr val="1B1B27"/>
                </a:solidFill>
                <a:latin typeface="Raleway" pitchFamily="34" charset="0"/>
                <a:ea typeface="Raleway" pitchFamily="34" charset="-122"/>
                <a:cs typeface="Raleway" pitchFamily="34" charset="-120"/>
              </a:rPr>
              <a:t>LLM Capabilities</a:t>
            </a:r>
            <a:endParaRPr lang="en-US" sz="2208" dirty="0"/>
          </a:p>
        </p:txBody>
      </p:sp>
      <p:sp>
        <p:nvSpPr>
          <p:cNvPr id="10" name="Text 6"/>
          <p:cNvSpPr/>
          <p:nvPr/>
        </p:nvSpPr>
        <p:spPr>
          <a:xfrm>
            <a:off x="661492" y="49068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Natural language code explanations</a:t>
            </a:r>
            <a:endParaRPr lang="en-US" sz="1458" dirty="0"/>
          </a:p>
        </p:txBody>
      </p:sp>
      <p:sp>
        <p:nvSpPr>
          <p:cNvPr id="11" name="Text 7"/>
          <p:cNvSpPr/>
          <p:nvPr/>
        </p:nvSpPr>
        <p:spPr>
          <a:xfrm>
            <a:off x="661492" y="52753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Context-aware recommendations</a:t>
            </a:r>
            <a:endParaRPr lang="en-US" sz="1458" dirty="0"/>
          </a:p>
        </p:txBody>
      </p:sp>
      <p:sp>
        <p:nvSpPr>
          <p:cNvPr id="12" name="Text 8"/>
          <p:cNvSpPr/>
          <p:nvPr/>
        </p:nvSpPr>
        <p:spPr>
          <a:xfrm>
            <a:off x="661492" y="5643861"/>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Review expert role</a:t>
            </a:r>
            <a:endParaRPr lang="en-US" sz="1458" dirty="0"/>
          </a:p>
        </p:txBody>
      </p:sp>
      <p:sp>
        <p:nvSpPr>
          <p:cNvPr id="13" name="Text 9"/>
          <p:cNvSpPr/>
          <p:nvPr/>
        </p:nvSpPr>
        <p:spPr>
          <a:xfrm>
            <a:off x="6332934" y="4363443"/>
            <a:ext cx="2835275" cy="354409"/>
          </a:xfrm>
          <a:prstGeom prst="rect">
            <a:avLst/>
          </a:prstGeom>
          <a:noFill/>
          <a:ln/>
        </p:spPr>
        <p:txBody>
          <a:bodyPr wrap="none" lIns="0" tIns="0" rIns="0" bIns="0" rtlCol="0" anchor="t"/>
          <a:lstStyle/>
          <a:p>
            <a:pPr>
              <a:lnSpc>
                <a:spcPts val="2750"/>
              </a:lnSpc>
            </a:pPr>
            <a:r>
              <a:rPr lang="en-US" sz="2208" dirty="0">
                <a:solidFill>
                  <a:srgbClr val="1B1B27"/>
                </a:solidFill>
                <a:latin typeface="Raleway" pitchFamily="34" charset="0"/>
                <a:ea typeface="Raleway" pitchFamily="34" charset="-122"/>
                <a:cs typeface="Raleway" pitchFamily="34" charset="-120"/>
              </a:rPr>
              <a:t>RAG Benefits</a:t>
            </a:r>
            <a:endParaRPr lang="en-US" sz="2208" dirty="0"/>
          </a:p>
        </p:txBody>
      </p:sp>
      <p:sp>
        <p:nvSpPr>
          <p:cNvPr id="14" name="Text 10"/>
          <p:cNvSpPr/>
          <p:nvPr/>
        </p:nvSpPr>
        <p:spPr>
          <a:xfrm>
            <a:off x="6332935" y="49068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Company-specific standards</a:t>
            </a:r>
            <a:endParaRPr lang="en-US" sz="1458" dirty="0"/>
          </a:p>
        </p:txBody>
      </p:sp>
      <p:sp>
        <p:nvSpPr>
          <p:cNvPr id="15" name="Text 11"/>
          <p:cNvSpPr/>
          <p:nvPr/>
        </p:nvSpPr>
        <p:spPr>
          <a:xfrm>
            <a:off x="6332935" y="52753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Historical context integration</a:t>
            </a:r>
            <a:endParaRPr lang="en-US" sz="1458" dirty="0"/>
          </a:p>
        </p:txBody>
      </p:sp>
      <p:sp>
        <p:nvSpPr>
          <p:cNvPr id="16" name="Text 12"/>
          <p:cNvSpPr/>
          <p:nvPr/>
        </p:nvSpPr>
        <p:spPr>
          <a:xfrm>
            <a:off x="6332935" y="5643861"/>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dirty="0">
                <a:solidFill>
                  <a:srgbClr val="3C3939"/>
                </a:solidFill>
                <a:latin typeface="Roboto" pitchFamily="34" charset="0"/>
                <a:ea typeface="Roboto" pitchFamily="34" charset="-122"/>
                <a:cs typeface="Roboto" pitchFamily="34" charset="-120"/>
              </a:rPr>
              <a:t>Custom rule enforcement</a:t>
            </a:r>
            <a:endParaRPr lang="en-US" sz="145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13049D8-894D-32D8-773D-34058F9183C7}"/>
              </a:ext>
            </a:extLst>
          </p:cNvPr>
          <p:cNvGrpSpPr/>
          <p:nvPr/>
        </p:nvGrpSpPr>
        <p:grpSpPr>
          <a:xfrm>
            <a:off x="648295" y="1508577"/>
            <a:ext cx="10549533" cy="4828103"/>
            <a:chOff x="2040374" y="3022283"/>
            <a:chExt cx="10549533" cy="4828103"/>
          </a:xfrm>
        </p:grpSpPr>
        <p:pic>
          <p:nvPicPr>
            <p:cNvPr id="26" name="Image 1" descr="preencoded.png">
              <a:extLst>
                <a:ext uri="{FF2B5EF4-FFF2-40B4-BE49-F238E27FC236}">
                  <a16:creationId xmlns:a16="http://schemas.microsoft.com/office/drawing/2014/main" id="{5DAD37F4-CDE5-95F4-E6A0-402C23F51D1B}"/>
                </a:ext>
              </a:extLst>
            </p:cNvPr>
            <p:cNvPicPr>
              <a:picLocks noChangeAspect="1"/>
            </p:cNvPicPr>
            <p:nvPr/>
          </p:nvPicPr>
          <p:blipFill>
            <a:blip r:embed="rId3"/>
            <a:stretch>
              <a:fillRect/>
            </a:stretch>
          </p:blipFill>
          <p:spPr>
            <a:xfrm>
              <a:off x="2040374" y="3022283"/>
              <a:ext cx="10549533" cy="4828103"/>
            </a:xfrm>
            <a:prstGeom prst="rect">
              <a:avLst/>
            </a:prstGeom>
          </p:spPr>
        </p:pic>
        <p:pic>
          <p:nvPicPr>
            <p:cNvPr id="27" name="Image 2" descr="preencoded.png">
              <a:extLst>
                <a:ext uri="{FF2B5EF4-FFF2-40B4-BE49-F238E27FC236}">
                  <a16:creationId xmlns:a16="http://schemas.microsoft.com/office/drawing/2014/main" id="{2AC37C2D-41C4-5333-2D56-0131FBFBBC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22460" y="4227731"/>
              <a:ext cx="678277" cy="678276"/>
            </a:xfrm>
            <a:prstGeom prst="rect">
              <a:avLst/>
            </a:prstGeom>
          </p:spPr>
        </p:pic>
        <p:sp>
          <p:nvSpPr>
            <p:cNvPr id="28" name="Text 1">
              <a:extLst>
                <a:ext uri="{FF2B5EF4-FFF2-40B4-BE49-F238E27FC236}">
                  <a16:creationId xmlns:a16="http://schemas.microsoft.com/office/drawing/2014/main" id="{9A238468-7375-00AF-0718-D7C36566C9C9}"/>
                </a:ext>
              </a:extLst>
            </p:cNvPr>
            <p:cNvSpPr/>
            <p:nvPr/>
          </p:nvSpPr>
          <p:spPr>
            <a:xfrm>
              <a:off x="10118158" y="6177196"/>
              <a:ext cx="1980567" cy="763060"/>
            </a:xfrm>
            <a:prstGeom prst="rect">
              <a:avLst/>
            </a:prstGeom>
            <a:noFill/>
            <a:ln/>
          </p:spPr>
          <p:txBody>
            <a:bodyPr wrap="square" lIns="0" tIns="0" rIns="0" bIns="0" rtlCol="0" anchor="t"/>
            <a:lstStyle/>
            <a:p>
              <a:pPr marL="0" indent="0" algn="ctr">
                <a:lnSpc>
                  <a:spcPts val="1650"/>
                </a:lnSpc>
                <a:buNone/>
              </a:pPr>
              <a:r>
                <a:rPr lang="en-US" sz="1350" dirty="0">
                  <a:solidFill>
                    <a:srgbClr val="3C3939"/>
                  </a:solidFill>
                  <a:latin typeface="Raleway" pitchFamily="34" charset="0"/>
                  <a:ea typeface="Raleway" pitchFamily="34" charset="-122"/>
                  <a:cs typeface="Raleway" pitchFamily="34" charset="-120"/>
                </a:rPr>
                <a:t>Continuous Feedback</a:t>
              </a:r>
              <a:endParaRPr lang="en-US" sz="1350" dirty="0"/>
            </a:p>
          </p:txBody>
        </p:sp>
        <p:pic>
          <p:nvPicPr>
            <p:cNvPr id="29" name="Image 3" descr="preencoded.png">
              <a:extLst>
                <a:ext uri="{FF2B5EF4-FFF2-40B4-BE49-F238E27FC236}">
                  <a16:creationId xmlns:a16="http://schemas.microsoft.com/office/drawing/2014/main" id="{5CAEADE2-9C6E-11A6-4416-80FB17631F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9333" y="4229002"/>
              <a:ext cx="678276" cy="678276"/>
            </a:xfrm>
            <a:prstGeom prst="rect">
              <a:avLst/>
            </a:prstGeom>
          </p:spPr>
        </p:pic>
        <p:sp>
          <p:nvSpPr>
            <p:cNvPr id="30" name="Text 2">
              <a:extLst>
                <a:ext uri="{FF2B5EF4-FFF2-40B4-BE49-F238E27FC236}">
                  <a16:creationId xmlns:a16="http://schemas.microsoft.com/office/drawing/2014/main" id="{27ACD5E0-0989-5AAA-97AE-5567BBA0E10E}"/>
                </a:ext>
              </a:extLst>
            </p:cNvPr>
            <p:cNvSpPr/>
            <p:nvPr/>
          </p:nvSpPr>
          <p:spPr>
            <a:xfrm>
              <a:off x="7622101" y="6177196"/>
              <a:ext cx="1980567" cy="763060"/>
            </a:xfrm>
            <a:prstGeom prst="rect">
              <a:avLst/>
            </a:prstGeom>
            <a:noFill/>
            <a:ln/>
          </p:spPr>
          <p:txBody>
            <a:bodyPr wrap="square" lIns="0" tIns="0" rIns="0" bIns="0" rtlCol="0" anchor="t"/>
            <a:lstStyle/>
            <a:p>
              <a:pPr marL="0" indent="0" algn="ctr">
                <a:lnSpc>
                  <a:spcPts val="1650"/>
                </a:lnSpc>
                <a:buNone/>
              </a:pPr>
              <a:r>
                <a:rPr lang="en-US" sz="1350" dirty="0">
                  <a:solidFill>
                    <a:srgbClr val="3C3939"/>
                  </a:solidFill>
                  <a:latin typeface="Raleway" pitchFamily="34" charset="0"/>
                  <a:ea typeface="Raleway" pitchFamily="34" charset="-122"/>
                  <a:cs typeface="Raleway" pitchFamily="34" charset="-120"/>
                </a:rPr>
                <a:t>Collaborative Decision</a:t>
              </a:r>
              <a:endParaRPr lang="en-US" sz="1350" dirty="0"/>
            </a:p>
          </p:txBody>
        </p:sp>
        <p:pic>
          <p:nvPicPr>
            <p:cNvPr id="31" name="Image 4" descr="preencoded.png">
              <a:extLst>
                <a:ext uri="{FF2B5EF4-FFF2-40B4-BE49-F238E27FC236}">
                  <a16:creationId xmlns:a16="http://schemas.microsoft.com/office/drawing/2014/main" id="{F7B18391-4F48-92C2-55DE-5FE7B3DF94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6841" y="4229002"/>
              <a:ext cx="678277" cy="678276"/>
            </a:xfrm>
            <a:prstGeom prst="rect">
              <a:avLst/>
            </a:prstGeom>
          </p:spPr>
        </p:pic>
        <p:sp>
          <p:nvSpPr>
            <p:cNvPr id="32" name="Text 3">
              <a:extLst>
                <a:ext uri="{FF2B5EF4-FFF2-40B4-BE49-F238E27FC236}">
                  <a16:creationId xmlns:a16="http://schemas.microsoft.com/office/drawing/2014/main" id="{296C9D64-60F5-53B2-BD0D-A7E92CB98F43}"/>
                </a:ext>
              </a:extLst>
            </p:cNvPr>
            <p:cNvSpPr/>
            <p:nvPr/>
          </p:nvSpPr>
          <p:spPr>
            <a:xfrm>
              <a:off x="5139610" y="6177196"/>
              <a:ext cx="1980567" cy="763060"/>
            </a:xfrm>
            <a:prstGeom prst="rect">
              <a:avLst/>
            </a:prstGeom>
            <a:noFill/>
            <a:ln/>
          </p:spPr>
          <p:txBody>
            <a:bodyPr wrap="square" lIns="0" tIns="0" rIns="0" bIns="0" rtlCol="0" anchor="t"/>
            <a:lstStyle/>
            <a:p>
              <a:pPr marL="0" indent="0" algn="ctr">
                <a:lnSpc>
                  <a:spcPts val="1650"/>
                </a:lnSpc>
                <a:buNone/>
              </a:pPr>
              <a:r>
                <a:rPr lang="en-US" sz="1350" dirty="0">
                  <a:solidFill>
                    <a:srgbClr val="3C3939"/>
                  </a:solidFill>
                  <a:latin typeface="Raleway" pitchFamily="34" charset="0"/>
                  <a:ea typeface="Raleway" pitchFamily="34" charset="-122"/>
                  <a:cs typeface="Raleway" pitchFamily="34" charset="-120"/>
                </a:rPr>
                <a:t>Human Deep Dive</a:t>
              </a:r>
              <a:endParaRPr lang="en-US" sz="1350" dirty="0"/>
            </a:p>
          </p:txBody>
        </p:sp>
        <p:pic>
          <p:nvPicPr>
            <p:cNvPr id="33" name="Image 5" descr="preencoded.png">
              <a:extLst>
                <a:ext uri="{FF2B5EF4-FFF2-40B4-BE49-F238E27FC236}">
                  <a16:creationId xmlns:a16="http://schemas.microsoft.com/office/drawing/2014/main" id="{CCB92C44-D6FD-A5CD-3131-51848EEFFE5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60784" y="4229002"/>
              <a:ext cx="678277" cy="678276"/>
            </a:xfrm>
            <a:prstGeom prst="rect">
              <a:avLst/>
            </a:prstGeom>
          </p:spPr>
        </p:pic>
        <p:sp>
          <p:nvSpPr>
            <p:cNvPr id="34" name="Text 4">
              <a:extLst>
                <a:ext uri="{FF2B5EF4-FFF2-40B4-BE49-F238E27FC236}">
                  <a16:creationId xmlns:a16="http://schemas.microsoft.com/office/drawing/2014/main" id="{E39B68E7-0CB6-5BAE-A10D-B2D4CEA169C5}"/>
                </a:ext>
              </a:extLst>
            </p:cNvPr>
            <p:cNvSpPr/>
            <p:nvPr/>
          </p:nvSpPr>
          <p:spPr>
            <a:xfrm>
              <a:off x="2599709" y="6177196"/>
              <a:ext cx="1980567" cy="381530"/>
            </a:xfrm>
            <a:prstGeom prst="rect">
              <a:avLst/>
            </a:prstGeom>
            <a:noFill/>
            <a:ln/>
          </p:spPr>
          <p:txBody>
            <a:bodyPr wrap="none" lIns="0" tIns="0" rIns="0" bIns="0" rtlCol="0" anchor="t"/>
            <a:lstStyle/>
            <a:p>
              <a:pPr marL="0" indent="0" algn="ctr">
                <a:lnSpc>
                  <a:spcPts val="1650"/>
                </a:lnSpc>
                <a:buNone/>
              </a:pPr>
              <a:r>
                <a:rPr lang="en-US" sz="1350" dirty="0">
                  <a:solidFill>
                    <a:srgbClr val="3C3939"/>
                  </a:solidFill>
                  <a:latin typeface="Raleway" pitchFamily="34" charset="0"/>
                  <a:ea typeface="Raleway" pitchFamily="34" charset="-122"/>
                  <a:cs typeface="Raleway" pitchFamily="34" charset="-120"/>
                </a:rPr>
                <a:t>AI First Pass</a:t>
              </a:r>
              <a:endParaRPr lang="en-US" sz="1350" dirty="0"/>
            </a:p>
          </p:txBody>
        </p:sp>
      </p:grpSp>
      <p:sp>
        <p:nvSpPr>
          <p:cNvPr id="35" name="Title 1">
            <a:extLst>
              <a:ext uri="{FF2B5EF4-FFF2-40B4-BE49-F238E27FC236}">
                <a16:creationId xmlns:a16="http://schemas.microsoft.com/office/drawing/2014/main" id="{35AD2AF2-2FFB-A224-D1BB-04910411F2A8}"/>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ea typeface="Raleway" pitchFamily="34" charset="-122"/>
                <a:cs typeface="Raleway" pitchFamily="34" charset="-120"/>
              </a:rPr>
              <a:t>AI-Powered Version Review Overall Workflow</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AFBEF-6CE0-491B-C861-B8C2BDE13FBB}"/>
            </a:ext>
          </a:extLst>
        </p:cNvPr>
        <p:cNvGrpSpPr/>
        <p:nvPr/>
      </p:nvGrpSpPr>
      <p:grpSpPr>
        <a:xfrm>
          <a:off x="0" y="0"/>
          <a:ext cx="0" cy="0"/>
          <a:chOff x="0" y="0"/>
          <a:chExt cx="0" cy="0"/>
        </a:xfrm>
      </p:grpSpPr>
      <p:sp>
        <p:nvSpPr>
          <p:cNvPr id="35" name="Title 1">
            <a:extLst>
              <a:ext uri="{FF2B5EF4-FFF2-40B4-BE49-F238E27FC236}">
                <a16:creationId xmlns:a16="http://schemas.microsoft.com/office/drawing/2014/main" id="{5F4C8F37-7831-3C5A-D256-7D73626FCD05}"/>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ea typeface="Raleway" pitchFamily="34" charset="-122"/>
                <a:cs typeface="Raleway" pitchFamily="34" charset="-120"/>
              </a:rPr>
              <a:t>AI-Powered Version Review Overall Workflow</a:t>
            </a:r>
            <a:endParaRPr lang="en-US" sz="2400" dirty="0"/>
          </a:p>
        </p:txBody>
      </p:sp>
      <p:pic>
        <p:nvPicPr>
          <p:cNvPr id="3" name="Picture 2">
            <a:extLst>
              <a:ext uri="{FF2B5EF4-FFF2-40B4-BE49-F238E27FC236}">
                <a16:creationId xmlns:a16="http://schemas.microsoft.com/office/drawing/2014/main" id="{ECA4A20E-E140-CBBB-3D7A-8E490FE75E37}"/>
              </a:ext>
            </a:extLst>
          </p:cNvPr>
          <p:cNvPicPr>
            <a:picLocks noChangeAspect="1"/>
          </p:cNvPicPr>
          <p:nvPr/>
        </p:nvPicPr>
        <p:blipFill>
          <a:blip r:embed="rId3"/>
          <a:stretch>
            <a:fillRect/>
          </a:stretch>
        </p:blipFill>
        <p:spPr>
          <a:xfrm>
            <a:off x="513184" y="1605573"/>
            <a:ext cx="10907486" cy="3646854"/>
          </a:xfrm>
          <a:prstGeom prst="rect">
            <a:avLst/>
          </a:prstGeom>
        </p:spPr>
      </p:pic>
    </p:spTree>
    <p:extLst>
      <p:ext uri="{BB962C8B-B14F-4D97-AF65-F5344CB8AC3E}">
        <p14:creationId xmlns:p14="http://schemas.microsoft.com/office/powerpoint/2010/main" val="3545193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C75A2-DC88-20A9-C3C9-FF296A83C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F097C-CC30-4F94-B3E0-E9B6D9ED3592}"/>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rPr>
              <a:t>Simple Test Cases With Telit </a:t>
            </a:r>
            <a:r>
              <a:rPr lang="en-US" sz="2400">
                <a:solidFill>
                  <a:srgbClr val="1B1B27"/>
                </a:solidFill>
                <a:latin typeface="Raleway" pitchFamily="34" charset="0"/>
              </a:rPr>
              <a:t>AI + </a:t>
            </a:r>
            <a:r>
              <a:rPr lang="en-US" sz="2400" dirty="0">
                <a:solidFill>
                  <a:srgbClr val="1B1B27"/>
                </a:solidFill>
                <a:latin typeface="Raleway" pitchFamily="34" charset="0"/>
              </a:rPr>
              <a:t>RAG + Role</a:t>
            </a:r>
            <a:endParaRPr lang="en-US" sz="2400" dirty="0"/>
          </a:p>
        </p:txBody>
      </p:sp>
      <p:pic>
        <p:nvPicPr>
          <p:cNvPr id="9" name="Picture 8">
            <a:extLst>
              <a:ext uri="{FF2B5EF4-FFF2-40B4-BE49-F238E27FC236}">
                <a16:creationId xmlns:a16="http://schemas.microsoft.com/office/drawing/2014/main" id="{25B8F9F6-9052-8435-EE21-340EEA43F639}"/>
              </a:ext>
            </a:extLst>
          </p:cNvPr>
          <p:cNvPicPr>
            <a:picLocks noChangeAspect="1"/>
          </p:cNvPicPr>
          <p:nvPr/>
        </p:nvPicPr>
        <p:blipFill>
          <a:blip r:embed="rId3"/>
          <a:stretch>
            <a:fillRect/>
          </a:stretch>
        </p:blipFill>
        <p:spPr>
          <a:xfrm>
            <a:off x="1367068" y="1304515"/>
            <a:ext cx="3524742" cy="1152686"/>
          </a:xfrm>
          <a:prstGeom prst="rect">
            <a:avLst/>
          </a:prstGeom>
        </p:spPr>
      </p:pic>
      <p:pic>
        <p:nvPicPr>
          <p:cNvPr id="11" name="Picture 10">
            <a:extLst>
              <a:ext uri="{FF2B5EF4-FFF2-40B4-BE49-F238E27FC236}">
                <a16:creationId xmlns:a16="http://schemas.microsoft.com/office/drawing/2014/main" id="{24584E69-93CB-6E3A-C860-43D90E80B3EF}"/>
              </a:ext>
            </a:extLst>
          </p:cNvPr>
          <p:cNvPicPr>
            <a:picLocks noChangeAspect="1"/>
          </p:cNvPicPr>
          <p:nvPr/>
        </p:nvPicPr>
        <p:blipFill>
          <a:blip r:embed="rId4"/>
          <a:stretch>
            <a:fillRect/>
          </a:stretch>
        </p:blipFill>
        <p:spPr>
          <a:xfrm>
            <a:off x="1367068" y="2486025"/>
            <a:ext cx="3524742" cy="3514045"/>
          </a:xfrm>
          <a:prstGeom prst="rect">
            <a:avLst/>
          </a:prstGeom>
        </p:spPr>
      </p:pic>
      <p:pic>
        <p:nvPicPr>
          <p:cNvPr id="13" name="Picture 12">
            <a:extLst>
              <a:ext uri="{FF2B5EF4-FFF2-40B4-BE49-F238E27FC236}">
                <a16:creationId xmlns:a16="http://schemas.microsoft.com/office/drawing/2014/main" id="{2589BF08-15D8-F904-3FA5-0A1A0B51B0D7}"/>
              </a:ext>
            </a:extLst>
          </p:cNvPr>
          <p:cNvPicPr>
            <a:picLocks noChangeAspect="1"/>
          </p:cNvPicPr>
          <p:nvPr/>
        </p:nvPicPr>
        <p:blipFill>
          <a:blip r:embed="rId5"/>
          <a:stretch>
            <a:fillRect/>
          </a:stretch>
        </p:blipFill>
        <p:spPr>
          <a:xfrm>
            <a:off x="5473595" y="1289357"/>
            <a:ext cx="4439944" cy="2350559"/>
          </a:xfrm>
          <a:prstGeom prst="rect">
            <a:avLst/>
          </a:prstGeom>
          <a:ln>
            <a:solidFill>
              <a:schemeClr val="tx1"/>
            </a:solidFill>
          </a:ln>
        </p:spPr>
      </p:pic>
      <p:pic>
        <p:nvPicPr>
          <p:cNvPr id="15" name="Picture 14">
            <a:extLst>
              <a:ext uri="{FF2B5EF4-FFF2-40B4-BE49-F238E27FC236}">
                <a16:creationId xmlns:a16="http://schemas.microsoft.com/office/drawing/2014/main" id="{5B89DF66-3D81-B5AF-09F5-57E47AACD493}"/>
              </a:ext>
            </a:extLst>
          </p:cNvPr>
          <p:cNvPicPr>
            <a:picLocks noChangeAspect="1"/>
          </p:cNvPicPr>
          <p:nvPr/>
        </p:nvPicPr>
        <p:blipFill>
          <a:blip r:embed="rId6"/>
          <a:stretch>
            <a:fillRect/>
          </a:stretch>
        </p:blipFill>
        <p:spPr>
          <a:xfrm>
            <a:off x="5473595" y="3722271"/>
            <a:ext cx="4458375" cy="2350559"/>
          </a:xfrm>
          <a:prstGeom prst="rect">
            <a:avLst/>
          </a:prstGeom>
          <a:ln>
            <a:solidFill>
              <a:schemeClr val="tx1"/>
            </a:solidFill>
          </a:ln>
        </p:spPr>
      </p:pic>
      <p:sp>
        <p:nvSpPr>
          <p:cNvPr id="16" name="TextBox 15">
            <a:extLst>
              <a:ext uri="{FF2B5EF4-FFF2-40B4-BE49-F238E27FC236}">
                <a16:creationId xmlns:a16="http://schemas.microsoft.com/office/drawing/2014/main" id="{0CA7F903-F3F8-2D8C-B685-4961C326E0FE}"/>
              </a:ext>
            </a:extLst>
          </p:cNvPr>
          <p:cNvSpPr txBox="1"/>
          <p:nvPr/>
        </p:nvSpPr>
        <p:spPr>
          <a:xfrm>
            <a:off x="2338197" y="857930"/>
            <a:ext cx="1846980" cy="369332"/>
          </a:xfrm>
          <a:prstGeom prst="rect">
            <a:avLst/>
          </a:prstGeom>
          <a:noFill/>
        </p:spPr>
        <p:txBody>
          <a:bodyPr wrap="none" rtlCol="0">
            <a:spAutoFit/>
          </a:bodyPr>
          <a:lstStyle/>
          <a:p>
            <a:r>
              <a:rPr lang="en-US" b="1" dirty="0"/>
              <a:t>&lt;Role Definition&gt;</a:t>
            </a:r>
          </a:p>
        </p:txBody>
      </p:sp>
      <p:sp>
        <p:nvSpPr>
          <p:cNvPr id="17" name="TextBox 16">
            <a:extLst>
              <a:ext uri="{FF2B5EF4-FFF2-40B4-BE49-F238E27FC236}">
                <a16:creationId xmlns:a16="http://schemas.microsoft.com/office/drawing/2014/main" id="{AEE349BC-3B79-88A8-8687-0DBC52E31A22}"/>
              </a:ext>
            </a:extLst>
          </p:cNvPr>
          <p:cNvSpPr txBox="1"/>
          <p:nvPr/>
        </p:nvSpPr>
        <p:spPr>
          <a:xfrm>
            <a:off x="6542047" y="837670"/>
            <a:ext cx="2584362" cy="369332"/>
          </a:xfrm>
          <a:prstGeom prst="rect">
            <a:avLst/>
          </a:prstGeom>
          <a:noFill/>
        </p:spPr>
        <p:txBody>
          <a:bodyPr wrap="none" rtlCol="0">
            <a:spAutoFit/>
          </a:bodyPr>
          <a:lstStyle/>
          <a:p>
            <a:r>
              <a:rPr lang="en-US" b="1" dirty="0"/>
              <a:t>&lt;Vectorized DB Content&gt;</a:t>
            </a:r>
          </a:p>
        </p:txBody>
      </p:sp>
    </p:spTree>
    <p:extLst>
      <p:ext uri="{BB962C8B-B14F-4D97-AF65-F5344CB8AC3E}">
        <p14:creationId xmlns:p14="http://schemas.microsoft.com/office/powerpoint/2010/main" val="3696607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7206-F838-8CDF-2352-3E6B09101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75B34-64DB-E3CB-0A27-700BB39F807C}"/>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rPr>
              <a:t>Simple Test Case With Telit AI + RAG + Role</a:t>
            </a:r>
            <a:endParaRPr lang="en-US" sz="2400" dirty="0"/>
          </a:p>
        </p:txBody>
      </p:sp>
      <p:sp>
        <p:nvSpPr>
          <p:cNvPr id="3" name="TextBox 2">
            <a:extLst>
              <a:ext uri="{FF2B5EF4-FFF2-40B4-BE49-F238E27FC236}">
                <a16:creationId xmlns:a16="http://schemas.microsoft.com/office/drawing/2014/main" id="{9A3A4DD7-CF26-1B28-0F77-C0FC67A72BB5}"/>
              </a:ext>
            </a:extLst>
          </p:cNvPr>
          <p:cNvSpPr txBox="1"/>
          <p:nvPr/>
        </p:nvSpPr>
        <p:spPr>
          <a:xfrm>
            <a:off x="333375" y="580313"/>
            <a:ext cx="6102220" cy="584199"/>
          </a:xfrm>
          <a:prstGeom prst="rect">
            <a:avLst/>
          </a:prstGeom>
          <a:noFill/>
        </p:spPr>
        <p:txBody>
          <a:bodyPr wrap="square">
            <a:spAutoFit/>
          </a:bodyPr>
          <a:lstStyle/>
          <a:p>
            <a:pPr>
              <a:lnSpc>
                <a:spcPts val="4541"/>
              </a:lnSpc>
            </a:pPr>
            <a:r>
              <a:rPr lang="en-US" sz="1800" dirty="0">
                <a:solidFill>
                  <a:srgbClr val="1B1B27"/>
                </a:solidFill>
                <a:latin typeface="Raleway" pitchFamily="34" charset="0"/>
              </a:rPr>
              <a:t>Case #1. </a:t>
            </a:r>
            <a:r>
              <a:rPr lang="ko-KR" altLang="en-US" sz="1800" dirty="0">
                <a:solidFill>
                  <a:srgbClr val="1B1B27"/>
                </a:solidFill>
                <a:latin typeface="Raleway" pitchFamily="34" charset="0"/>
              </a:rPr>
              <a:t>✅</a:t>
            </a:r>
            <a:r>
              <a:rPr lang="en-US" sz="1800" dirty="0">
                <a:solidFill>
                  <a:srgbClr val="1B1B27"/>
                </a:solidFill>
                <a:latin typeface="Raleway" pitchFamily="34" charset="0"/>
              </a:rPr>
              <a:t>Jira + </a:t>
            </a:r>
            <a:r>
              <a:rPr lang="ko-KR" altLang="en-US" sz="1800" dirty="0">
                <a:solidFill>
                  <a:srgbClr val="1B1B27"/>
                </a:solidFill>
                <a:latin typeface="Raleway" pitchFamily="34" charset="0"/>
              </a:rPr>
              <a:t>⚠️</a:t>
            </a:r>
            <a:r>
              <a:rPr lang="en-US" sz="1800" dirty="0">
                <a:solidFill>
                  <a:srgbClr val="1B1B27"/>
                </a:solidFill>
                <a:latin typeface="Raleway" pitchFamily="34" charset="0"/>
              </a:rPr>
              <a:t>Commit + </a:t>
            </a:r>
            <a:r>
              <a:rPr lang="ko-KR" altLang="en-US" sz="1800" dirty="0">
                <a:solidFill>
                  <a:srgbClr val="1B1B27"/>
                </a:solidFill>
                <a:latin typeface="Raleway" pitchFamily="34" charset="0"/>
              </a:rPr>
              <a:t>✅</a:t>
            </a:r>
            <a:r>
              <a:rPr lang="en-US" sz="1800" dirty="0">
                <a:solidFill>
                  <a:srgbClr val="1B1B27"/>
                </a:solidFill>
                <a:latin typeface="Raleway" pitchFamily="34" charset="0"/>
              </a:rPr>
              <a:t>Doc</a:t>
            </a:r>
            <a:endParaRPr lang="en-US" sz="1800" dirty="0"/>
          </a:p>
        </p:txBody>
      </p:sp>
      <p:pic>
        <p:nvPicPr>
          <p:cNvPr id="7" name="Picture 6">
            <a:extLst>
              <a:ext uri="{FF2B5EF4-FFF2-40B4-BE49-F238E27FC236}">
                <a16:creationId xmlns:a16="http://schemas.microsoft.com/office/drawing/2014/main" id="{8164D266-2068-601C-B72B-32C0383A2317}"/>
              </a:ext>
            </a:extLst>
          </p:cNvPr>
          <p:cNvPicPr>
            <a:picLocks noChangeAspect="1"/>
          </p:cNvPicPr>
          <p:nvPr/>
        </p:nvPicPr>
        <p:blipFill>
          <a:blip r:embed="rId3"/>
          <a:stretch>
            <a:fillRect/>
          </a:stretch>
        </p:blipFill>
        <p:spPr>
          <a:xfrm>
            <a:off x="4035350" y="1219595"/>
            <a:ext cx="7580246" cy="5058092"/>
          </a:xfrm>
          <a:prstGeom prst="rect">
            <a:avLst/>
          </a:prstGeom>
        </p:spPr>
      </p:pic>
      <p:sp>
        <p:nvSpPr>
          <p:cNvPr id="8" name="TextBox 7">
            <a:extLst>
              <a:ext uri="{FF2B5EF4-FFF2-40B4-BE49-F238E27FC236}">
                <a16:creationId xmlns:a16="http://schemas.microsoft.com/office/drawing/2014/main" id="{0C69FE9F-F7D7-E94D-861A-70C6BD0804A1}"/>
              </a:ext>
            </a:extLst>
          </p:cNvPr>
          <p:cNvSpPr txBox="1"/>
          <p:nvPr/>
        </p:nvSpPr>
        <p:spPr>
          <a:xfrm>
            <a:off x="479834" y="2091349"/>
            <a:ext cx="3268301" cy="2308324"/>
          </a:xfrm>
          <a:prstGeom prst="rect">
            <a:avLst/>
          </a:prstGeom>
          <a:noFill/>
        </p:spPr>
        <p:txBody>
          <a:bodyPr wrap="square" rtlCol="0">
            <a:spAutoFit/>
          </a:bodyPr>
          <a:lstStyle/>
          <a:p>
            <a:r>
              <a:rPr lang="en-US" dirty="0"/>
              <a:t>Issue Description:</a:t>
            </a:r>
          </a:p>
          <a:p>
            <a:endParaRPr lang="en-US" dirty="0"/>
          </a:p>
          <a:p>
            <a:r>
              <a:rPr lang="en-US" dirty="0"/>
              <a:t>A tiny mistake in the version commit such as a partial FEA version mismatch.</a:t>
            </a:r>
          </a:p>
          <a:p>
            <a:endParaRPr lang="en-US" dirty="0"/>
          </a:p>
          <a:p>
            <a:r>
              <a:rPr lang="en-US" dirty="0"/>
              <a:t>It’s very tricky for human to catch this kind of issues.</a:t>
            </a:r>
          </a:p>
        </p:txBody>
      </p:sp>
    </p:spTree>
    <p:extLst>
      <p:ext uri="{BB962C8B-B14F-4D97-AF65-F5344CB8AC3E}">
        <p14:creationId xmlns:p14="http://schemas.microsoft.com/office/powerpoint/2010/main" val="4218890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9A686-3D96-FAC1-F048-09E5D43D1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715C5-F701-4938-612A-E1D28450963C}"/>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rPr>
              <a:t>Simple Test Case With Telit AI + RAG + Role</a:t>
            </a:r>
            <a:endParaRPr lang="en-US" sz="2400" dirty="0"/>
          </a:p>
        </p:txBody>
      </p:sp>
      <p:sp>
        <p:nvSpPr>
          <p:cNvPr id="3" name="TextBox 2">
            <a:extLst>
              <a:ext uri="{FF2B5EF4-FFF2-40B4-BE49-F238E27FC236}">
                <a16:creationId xmlns:a16="http://schemas.microsoft.com/office/drawing/2014/main" id="{EE7D25C1-96C5-B6CC-CB88-5B3CEFF871F0}"/>
              </a:ext>
            </a:extLst>
          </p:cNvPr>
          <p:cNvSpPr txBox="1"/>
          <p:nvPr/>
        </p:nvSpPr>
        <p:spPr>
          <a:xfrm>
            <a:off x="333375" y="580313"/>
            <a:ext cx="6102220" cy="584199"/>
          </a:xfrm>
          <a:prstGeom prst="rect">
            <a:avLst/>
          </a:prstGeom>
          <a:noFill/>
        </p:spPr>
        <p:txBody>
          <a:bodyPr wrap="square">
            <a:spAutoFit/>
          </a:bodyPr>
          <a:lstStyle/>
          <a:p>
            <a:pPr>
              <a:lnSpc>
                <a:spcPts val="4541"/>
              </a:lnSpc>
            </a:pPr>
            <a:r>
              <a:rPr lang="en-US" sz="1800" dirty="0">
                <a:solidFill>
                  <a:srgbClr val="1B1B27"/>
                </a:solidFill>
                <a:latin typeface="Raleway" pitchFamily="34" charset="0"/>
              </a:rPr>
              <a:t>Case #2. </a:t>
            </a:r>
            <a:r>
              <a:rPr lang="ko-KR" altLang="en-US" sz="1800" dirty="0">
                <a:solidFill>
                  <a:srgbClr val="1B1B27"/>
                </a:solidFill>
                <a:latin typeface="Raleway" pitchFamily="34" charset="0"/>
              </a:rPr>
              <a:t>⚠️</a:t>
            </a:r>
            <a:r>
              <a:rPr lang="en-US" sz="1800" dirty="0">
                <a:solidFill>
                  <a:srgbClr val="1B1B27"/>
                </a:solidFill>
                <a:latin typeface="Raleway" pitchFamily="34" charset="0"/>
              </a:rPr>
              <a:t>Jira + </a:t>
            </a:r>
            <a:r>
              <a:rPr lang="ko-KR" altLang="en-US" sz="1800" dirty="0">
                <a:solidFill>
                  <a:srgbClr val="1B1B27"/>
                </a:solidFill>
                <a:latin typeface="Raleway" pitchFamily="34" charset="0"/>
              </a:rPr>
              <a:t>⚠️</a:t>
            </a:r>
            <a:r>
              <a:rPr lang="en-US" sz="1800" dirty="0">
                <a:solidFill>
                  <a:srgbClr val="1B1B27"/>
                </a:solidFill>
                <a:latin typeface="Raleway" pitchFamily="34" charset="0"/>
              </a:rPr>
              <a:t>Commit + </a:t>
            </a:r>
            <a:r>
              <a:rPr lang="ko-KR" altLang="en-US" sz="1800" dirty="0">
                <a:solidFill>
                  <a:srgbClr val="1B1B27"/>
                </a:solidFill>
                <a:latin typeface="Raleway" pitchFamily="34" charset="0"/>
              </a:rPr>
              <a:t>✅</a:t>
            </a:r>
            <a:r>
              <a:rPr lang="en-US" sz="1800" dirty="0">
                <a:solidFill>
                  <a:srgbClr val="1B1B27"/>
                </a:solidFill>
                <a:latin typeface="Raleway" pitchFamily="34" charset="0"/>
              </a:rPr>
              <a:t>Doc</a:t>
            </a:r>
            <a:endParaRPr lang="en-US" sz="1800" dirty="0"/>
          </a:p>
        </p:txBody>
      </p:sp>
      <p:pic>
        <p:nvPicPr>
          <p:cNvPr id="5" name="Picture 4">
            <a:extLst>
              <a:ext uri="{FF2B5EF4-FFF2-40B4-BE49-F238E27FC236}">
                <a16:creationId xmlns:a16="http://schemas.microsoft.com/office/drawing/2014/main" id="{61B127E5-B310-EB20-57EB-45E468AC72EB}"/>
              </a:ext>
            </a:extLst>
          </p:cNvPr>
          <p:cNvPicPr>
            <a:picLocks noChangeAspect="1"/>
          </p:cNvPicPr>
          <p:nvPr/>
        </p:nvPicPr>
        <p:blipFill>
          <a:blip r:embed="rId3"/>
          <a:stretch>
            <a:fillRect/>
          </a:stretch>
        </p:blipFill>
        <p:spPr>
          <a:xfrm>
            <a:off x="4245346" y="1164512"/>
            <a:ext cx="7062432" cy="5120264"/>
          </a:xfrm>
          <a:prstGeom prst="rect">
            <a:avLst/>
          </a:prstGeom>
        </p:spPr>
      </p:pic>
      <p:sp>
        <p:nvSpPr>
          <p:cNvPr id="6" name="TextBox 5">
            <a:extLst>
              <a:ext uri="{FF2B5EF4-FFF2-40B4-BE49-F238E27FC236}">
                <a16:creationId xmlns:a16="http://schemas.microsoft.com/office/drawing/2014/main" id="{6979841E-97B4-A5F6-A84C-F77D2E8A0A3B}"/>
              </a:ext>
            </a:extLst>
          </p:cNvPr>
          <p:cNvSpPr txBox="1"/>
          <p:nvPr/>
        </p:nvSpPr>
        <p:spPr>
          <a:xfrm>
            <a:off x="479834" y="2091349"/>
            <a:ext cx="3268301" cy="2308324"/>
          </a:xfrm>
          <a:prstGeom prst="rect">
            <a:avLst/>
          </a:prstGeom>
          <a:noFill/>
        </p:spPr>
        <p:txBody>
          <a:bodyPr wrap="square" rtlCol="0">
            <a:spAutoFit/>
          </a:bodyPr>
          <a:lstStyle/>
          <a:p>
            <a:r>
              <a:rPr lang="en-US" dirty="0"/>
              <a:t>Issue Description:</a:t>
            </a:r>
          </a:p>
          <a:p>
            <a:endParaRPr lang="en-US" dirty="0"/>
          </a:p>
          <a:p>
            <a:r>
              <a:rPr lang="en-US" dirty="0"/>
              <a:t>The version commit and Jira description does not match.</a:t>
            </a:r>
          </a:p>
          <a:p>
            <a:endParaRPr lang="en-US" dirty="0"/>
          </a:p>
          <a:p>
            <a:r>
              <a:rPr lang="en-US" dirty="0"/>
              <a:t>This case supposes that human uploaded the version commit as referring to the wrong Jira ticket. </a:t>
            </a:r>
          </a:p>
        </p:txBody>
      </p:sp>
    </p:spTree>
    <p:extLst>
      <p:ext uri="{BB962C8B-B14F-4D97-AF65-F5344CB8AC3E}">
        <p14:creationId xmlns:p14="http://schemas.microsoft.com/office/powerpoint/2010/main" val="71755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A84F-1219-1F26-0C02-C4F12A675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E2413-0F3D-6518-AF55-EA86014BE0D8}"/>
              </a:ext>
            </a:extLst>
          </p:cNvPr>
          <p:cNvSpPr txBox="1">
            <a:spLocks/>
          </p:cNvSpPr>
          <p:nvPr/>
        </p:nvSpPr>
        <p:spPr>
          <a:xfrm>
            <a:off x="333375" y="6130"/>
            <a:ext cx="11489896" cy="752475"/>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41"/>
              </a:lnSpc>
            </a:pPr>
            <a:r>
              <a:rPr lang="en-US" sz="2400" dirty="0">
                <a:solidFill>
                  <a:srgbClr val="1B1B27"/>
                </a:solidFill>
                <a:latin typeface="Raleway" pitchFamily="34" charset="0"/>
              </a:rPr>
              <a:t>Simple Test Case With Telit AI + RAG + Role</a:t>
            </a:r>
            <a:endParaRPr lang="en-US" sz="2400" dirty="0"/>
          </a:p>
        </p:txBody>
      </p:sp>
      <p:sp>
        <p:nvSpPr>
          <p:cNvPr id="3" name="TextBox 2">
            <a:extLst>
              <a:ext uri="{FF2B5EF4-FFF2-40B4-BE49-F238E27FC236}">
                <a16:creationId xmlns:a16="http://schemas.microsoft.com/office/drawing/2014/main" id="{87FB7B3B-74E7-39C9-E986-E0A5B4E43F28}"/>
              </a:ext>
            </a:extLst>
          </p:cNvPr>
          <p:cNvSpPr txBox="1"/>
          <p:nvPr/>
        </p:nvSpPr>
        <p:spPr>
          <a:xfrm>
            <a:off x="333375" y="580313"/>
            <a:ext cx="6102220" cy="584199"/>
          </a:xfrm>
          <a:prstGeom prst="rect">
            <a:avLst/>
          </a:prstGeom>
          <a:noFill/>
        </p:spPr>
        <p:txBody>
          <a:bodyPr wrap="square">
            <a:spAutoFit/>
          </a:bodyPr>
          <a:lstStyle/>
          <a:p>
            <a:pPr>
              <a:lnSpc>
                <a:spcPts val="4541"/>
              </a:lnSpc>
            </a:pPr>
            <a:r>
              <a:rPr lang="en-US" sz="1800" dirty="0">
                <a:solidFill>
                  <a:srgbClr val="1B1B27"/>
                </a:solidFill>
                <a:latin typeface="Raleway" pitchFamily="34" charset="0"/>
              </a:rPr>
              <a:t>Case #3. </a:t>
            </a:r>
            <a:r>
              <a:rPr lang="ko-KR" altLang="en-US" sz="1800" dirty="0">
                <a:solidFill>
                  <a:srgbClr val="1B1B27"/>
                </a:solidFill>
                <a:latin typeface="Raleway" pitchFamily="34" charset="0"/>
              </a:rPr>
              <a:t>✅</a:t>
            </a:r>
            <a:r>
              <a:rPr lang="en-US" sz="1800" dirty="0">
                <a:solidFill>
                  <a:srgbClr val="1B1B27"/>
                </a:solidFill>
                <a:latin typeface="Raleway" pitchFamily="34" charset="0"/>
              </a:rPr>
              <a:t>Jira + </a:t>
            </a:r>
            <a:r>
              <a:rPr lang="ko-KR" altLang="en-US" sz="1800" dirty="0">
                <a:solidFill>
                  <a:srgbClr val="1B1B27"/>
                </a:solidFill>
                <a:latin typeface="Raleway" pitchFamily="34" charset="0"/>
              </a:rPr>
              <a:t>✅</a:t>
            </a:r>
            <a:r>
              <a:rPr lang="en-US" sz="1800" dirty="0">
                <a:solidFill>
                  <a:srgbClr val="1B1B27"/>
                </a:solidFill>
                <a:latin typeface="Raleway" pitchFamily="34" charset="0"/>
              </a:rPr>
              <a:t>Commit + </a:t>
            </a:r>
            <a:r>
              <a:rPr lang="ko-KR" altLang="en-US" sz="1800" dirty="0">
                <a:solidFill>
                  <a:srgbClr val="1B1B27"/>
                </a:solidFill>
                <a:latin typeface="Raleway" pitchFamily="34" charset="0"/>
              </a:rPr>
              <a:t>✅</a:t>
            </a:r>
            <a:r>
              <a:rPr lang="en-US" sz="1800" dirty="0">
                <a:solidFill>
                  <a:srgbClr val="1B1B27"/>
                </a:solidFill>
                <a:latin typeface="Raleway" pitchFamily="34" charset="0"/>
              </a:rPr>
              <a:t>Doc</a:t>
            </a:r>
            <a:endParaRPr lang="en-US" sz="1800" dirty="0"/>
          </a:p>
        </p:txBody>
      </p:sp>
      <p:sp>
        <p:nvSpPr>
          <p:cNvPr id="6" name="TextBox 5">
            <a:extLst>
              <a:ext uri="{FF2B5EF4-FFF2-40B4-BE49-F238E27FC236}">
                <a16:creationId xmlns:a16="http://schemas.microsoft.com/office/drawing/2014/main" id="{EEDF4210-8A3B-F50D-9D76-A3415CC96A8E}"/>
              </a:ext>
            </a:extLst>
          </p:cNvPr>
          <p:cNvSpPr txBox="1"/>
          <p:nvPr/>
        </p:nvSpPr>
        <p:spPr>
          <a:xfrm>
            <a:off x="479834" y="2091349"/>
            <a:ext cx="3268301" cy="3139321"/>
          </a:xfrm>
          <a:prstGeom prst="rect">
            <a:avLst/>
          </a:prstGeom>
          <a:noFill/>
        </p:spPr>
        <p:txBody>
          <a:bodyPr wrap="square" rtlCol="0">
            <a:spAutoFit/>
          </a:bodyPr>
          <a:lstStyle/>
          <a:p>
            <a:r>
              <a:rPr lang="en-US" dirty="0"/>
              <a:t>Issue Description:</a:t>
            </a:r>
          </a:p>
          <a:p>
            <a:endParaRPr lang="en-US" dirty="0"/>
          </a:p>
          <a:p>
            <a:r>
              <a:rPr lang="en-US" dirty="0"/>
              <a:t>No issue</a:t>
            </a:r>
          </a:p>
          <a:p>
            <a:endParaRPr lang="en-US" dirty="0"/>
          </a:p>
          <a:p>
            <a:r>
              <a:rPr lang="en-US" dirty="0"/>
              <a:t>The version commit well complies with the latest version document.</a:t>
            </a:r>
          </a:p>
          <a:p>
            <a:endParaRPr lang="en-US" dirty="0"/>
          </a:p>
          <a:p>
            <a:r>
              <a:rPr lang="en-US" dirty="0"/>
              <a:t>However, the old version rule document was referred to by AI just in case.</a:t>
            </a:r>
          </a:p>
        </p:txBody>
      </p:sp>
      <p:pic>
        <p:nvPicPr>
          <p:cNvPr id="7" name="Picture 6">
            <a:extLst>
              <a:ext uri="{FF2B5EF4-FFF2-40B4-BE49-F238E27FC236}">
                <a16:creationId xmlns:a16="http://schemas.microsoft.com/office/drawing/2014/main" id="{0BF746A1-4D79-0E40-16A3-C93FC1395DB0}"/>
              </a:ext>
            </a:extLst>
          </p:cNvPr>
          <p:cNvPicPr>
            <a:picLocks noChangeAspect="1"/>
          </p:cNvPicPr>
          <p:nvPr/>
        </p:nvPicPr>
        <p:blipFill>
          <a:blip r:embed="rId3"/>
          <a:stretch>
            <a:fillRect/>
          </a:stretch>
        </p:blipFill>
        <p:spPr>
          <a:xfrm>
            <a:off x="5500929" y="758605"/>
            <a:ext cx="4685999" cy="5693488"/>
          </a:xfrm>
          <a:prstGeom prst="rect">
            <a:avLst/>
          </a:prstGeom>
        </p:spPr>
      </p:pic>
    </p:spTree>
    <p:extLst>
      <p:ext uri="{BB962C8B-B14F-4D97-AF65-F5344CB8AC3E}">
        <p14:creationId xmlns:p14="http://schemas.microsoft.com/office/powerpoint/2010/main" val="1397623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355533"/>
          </a:xfrm>
          <a:prstGeom prst="rect">
            <a:avLst/>
          </a:prstGeom>
        </p:spPr>
      </p:pic>
      <p:sp>
        <p:nvSpPr>
          <p:cNvPr id="3" name="Text 0"/>
          <p:cNvSpPr/>
          <p:nvPr/>
        </p:nvSpPr>
        <p:spPr>
          <a:xfrm>
            <a:off x="500063" y="392907"/>
            <a:ext cx="6619875" cy="893168"/>
          </a:xfrm>
          <a:prstGeom prst="rect">
            <a:avLst/>
          </a:prstGeom>
          <a:noFill/>
          <a:ln/>
        </p:spPr>
        <p:txBody>
          <a:bodyPr wrap="square" lIns="0" tIns="0" rIns="0" bIns="0" rtlCol="0" anchor="t"/>
          <a:lstStyle/>
          <a:p>
            <a:pPr>
              <a:lnSpc>
                <a:spcPts val="3500"/>
              </a:lnSpc>
            </a:pPr>
            <a:r>
              <a:rPr lang="en-US" sz="2792" dirty="0">
                <a:solidFill>
                  <a:srgbClr val="1B1B27"/>
                </a:solidFill>
                <a:latin typeface="Raleway" pitchFamily="34" charset="0"/>
                <a:ea typeface="Raleway" pitchFamily="34" charset="-122"/>
                <a:cs typeface="Raleway" pitchFamily="34" charset="-120"/>
              </a:rPr>
              <a:t>Team Adoption: Continuous AI Review System Evolution</a:t>
            </a:r>
            <a:endParaRPr lang="en-US" sz="2792" dirty="0"/>
          </a:p>
        </p:txBody>
      </p:sp>
      <p:sp>
        <p:nvSpPr>
          <p:cNvPr id="4" name="Shape 1"/>
          <p:cNvSpPr/>
          <p:nvPr/>
        </p:nvSpPr>
        <p:spPr>
          <a:xfrm>
            <a:off x="660797" y="1500386"/>
            <a:ext cx="19050" cy="3203972"/>
          </a:xfrm>
          <a:prstGeom prst="roundRect">
            <a:avLst>
              <a:gd name="adj" fmla="val 315052"/>
            </a:avLst>
          </a:prstGeom>
          <a:solidFill>
            <a:srgbClr val="C7C7D0"/>
          </a:solidFill>
          <a:ln/>
        </p:spPr>
        <p:txBody>
          <a:bodyPr/>
          <a:lstStyle/>
          <a:p>
            <a:endParaRPr lang="en-US" sz="1250"/>
          </a:p>
        </p:txBody>
      </p:sp>
      <p:sp>
        <p:nvSpPr>
          <p:cNvPr id="5" name="Shape 2"/>
          <p:cNvSpPr/>
          <p:nvPr/>
        </p:nvSpPr>
        <p:spPr>
          <a:xfrm>
            <a:off x="802482" y="1651595"/>
            <a:ext cx="428625" cy="19050"/>
          </a:xfrm>
          <a:prstGeom prst="roundRect">
            <a:avLst>
              <a:gd name="adj" fmla="val 315052"/>
            </a:avLst>
          </a:prstGeom>
          <a:solidFill>
            <a:srgbClr val="C7C7D0"/>
          </a:solidFill>
          <a:ln/>
        </p:spPr>
        <p:txBody>
          <a:bodyPr/>
          <a:lstStyle/>
          <a:p>
            <a:endParaRPr lang="en-US" sz="1250"/>
          </a:p>
        </p:txBody>
      </p:sp>
      <p:sp>
        <p:nvSpPr>
          <p:cNvPr id="6" name="Shape 3"/>
          <p:cNvSpPr/>
          <p:nvPr/>
        </p:nvSpPr>
        <p:spPr>
          <a:xfrm>
            <a:off x="500063" y="1500386"/>
            <a:ext cx="321469" cy="321469"/>
          </a:xfrm>
          <a:prstGeom prst="roundRect">
            <a:avLst>
              <a:gd name="adj" fmla="val 18670"/>
            </a:avLst>
          </a:prstGeom>
          <a:solidFill>
            <a:srgbClr val="E1E1EA"/>
          </a:solidFill>
          <a:ln w="7620">
            <a:solidFill>
              <a:srgbClr val="C7C7D0"/>
            </a:solidFill>
            <a:prstDash val="solid"/>
          </a:ln>
        </p:spPr>
        <p:txBody>
          <a:bodyPr/>
          <a:lstStyle/>
          <a:p>
            <a:endParaRPr lang="en-US" sz="1250"/>
          </a:p>
        </p:txBody>
      </p:sp>
      <p:sp>
        <p:nvSpPr>
          <p:cNvPr id="7" name="Text 4"/>
          <p:cNvSpPr/>
          <p:nvPr/>
        </p:nvSpPr>
        <p:spPr>
          <a:xfrm>
            <a:off x="553641" y="1527175"/>
            <a:ext cx="214313" cy="267891"/>
          </a:xfrm>
          <a:prstGeom prst="rect">
            <a:avLst/>
          </a:prstGeom>
          <a:noFill/>
          <a:ln/>
        </p:spPr>
        <p:txBody>
          <a:bodyPr wrap="none" lIns="0" tIns="0" rIns="0" bIns="0" rtlCol="0" anchor="t"/>
          <a:lstStyle/>
          <a:p>
            <a:pPr algn="ctr">
              <a:lnSpc>
                <a:spcPts val="1667"/>
              </a:lnSpc>
            </a:pPr>
            <a:r>
              <a:rPr lang="en-US" sz="1667" dirty="0">
                <a:solidFill>
                  <a:srgbClr val="3C3939"/>
                </a:solidFill>
                <a:latin typeface="Raleway" pitchFamily="34" charset="0"/>
                <a:ea typeface="Raleway" pitchFamily="34" charset="-122"/>
                <a:cs typeface="Raleway" pitchFamily="34" charset="-120"/>
              </a:rPr>
              <a:t>1</a:t>
            </a:r>
            <a:endParaRPr lang="en-US" sz="1667" dirty="0"/>
          </a:p>
        </p:txBody>
      </p:sp>
      <p:sp>
        <p:nvSpPr>
          <p:cNvPr id="8" name="Text 5"/>
          <p:cNvSpPr/>
          <p:nvPr/>
        </p:nvSpPr>
        <p:spPr>
          <a:xfrm>
            <a:off x="1375271" y="1549499"/>
            <a:ext cx="1786136" cy="223243"/>
          </a:xfrm>
          <a:prstGeom prst="rect">
            <a:avLst/>
          </a:prstGeom>
          <a:noFill/>
          <a:ln/>
        </p:spPr>
        <p:txBody>
          <a:bodyPr wrap="none" lIns="0" tIns="0" rIns="0" bIns="0" rtlCol="0" anchor="t"/>
          <a:lstStyle/>
          <a:p>
            <a:pPr>
              <a:lnSpc>
                <a:spcPts val="1750"/>
              </a:lnSpc>
            </a:pPr>
            <a:r>
              <a:rPr lang="en-US" sz="1375" dirty="0">
                <a:solidFill>
                  <a:srgbClr val="3C3939"/>
                </a:solidFill>
                <a:latin typeface="Raleway" pitchFamily="34" charset="0"/>
                <a:ea typeface="Raleway" pitchFamily="34" charset="-122"/>
                <a:cs typeface="Raleway" pitchFamily="34" charset="-120"/>
              </a:rPr>
              <a:t>Phase 1: Pilot</a:t>
            </a:r>
            <a:endParaRPr lang="en-US" sz="1375" dirty="0"/>
          </a:p>
        </p:txBody>
      </p:sp>
      <p:sp>
        <p:nvSpPr>
          <p:cNvPr id="9" name="Text 6"/>
          <p:cNvSpPr/>
          <p:nvPr/>
        </p:nvSpPr>
        <p:spPr>
          <a:xfrm>
            <a:off x="1375271" y="1858467"/>
            <a:ext cx="5744667" cy="228600"/>
          </a:xfrm>
          <a:prstGeom prst="rect">
            <a:avLst/>
          </a:prstGeom>
          <a:noFill/>
          <a:ln/>
        </p:spPr>
        <p:txBody>
          <a:bodyPr wrap="none" lIns="0" tIns="0" rIns="0" bIns="0" rtlCol="0" anchor="t"/>
          <a:lstStyle/>
          <a:p>
            <a:pPr>
              <a:lnSpc>
                <a:spcPts val="1792"/>
              </a:lnSpc>
            </a:pPr>
            <a:r>
              <a:rPr lang="en-US" sz="1125" dirty="0">
                <a:solidFill>
                  <a:srgbClr val="3C3939"/>
                </a:solidFill>
                <a:latin typeface="Roboto" pitchFamily="34" charset="0"/>
                <a:ea typeface="Roboto" pitchFamily="34" charset="-122"/>
                <a:cs typeface="Roboto" pitchFamily="34" charset="-120"/>
              </a:rPr>
              <a:t>CI/CD team tests AI tools on non-critical projects</a:t>
            </a:r>
            <a:endParaRPr lang="en-US" sz="1125" dirty="0"/>
          </a:p>
        </p:txBody>
      </p:sp>
      <p:sp>
        <p:nvSpPr>
          <p:cNvPr id="10" name="Shape 7"/>
          <p:cNvSpPr/>
          <p:nvPr/>
        </p:nvSpPr>
        <p:spPr>
          <a:xfrm>
            <a:off x="802482" y="2524026"/>
            <a:ext cx="428625" cy="19050"/>
          </a:xfrm>
          <a:prstGeom prst="roundRect">
            <a:avLst>
              <a:gd name="adj" fmla="val 315052"/>
            </a:avLst>
          </a:prstGeom>
          <a:solidFill>
            <a:srgbClr val="C7C7D0"/>
          </a:solidFill>
          <a:ln/>
        </p:spPr>
        <p:txBody>
          <a:bodyPr/>
          <a:lstStyle/>
          <a:p>
            <a:endParaRPr lang="en-US" sz="1250"/>
          </a:p>
        </p:txBody>
      </p:sp>
      <p:sp>
        <p:nvSpPr>
          <p:cNvPr id="11" name="Shape 8"/>
          <p:cNvSpPr/>
          <p:nvPr/>
        </p:nvSpPr>
        <p:spPr>
          <a:xfrm>
            <a:off x="500063" y="2372817"/>
            <a:ext cx="321469" cy="321469"/>
          </a:xfrm>
          <a:prstGeom prst="roundRect">
            <a:avLst>
              <a:gd name="adj" fmla="val 18670"/>
            </a:avLst>
          </a:prstGeom>
          <a:solidFill>
            <a:srgbClr val="E1E1EA"/>
          </a:solidFill>
          <a:ln w="7620">
            <a:solidFill>
              <a:srgbClr val="C7C7D0"/>
            </a:solidFill>
            <a:prstDash val="solid"/>
          </a:ln>
        </p:spPr>
        <p:txBody>
          <a:bodyPr/>
          <a:lstStyle/>
          <a:p>
            <a:endParaRPr lang="en-US" sz="1250"/>
          </a:p>
        </p:txBody>
      </p:sp>
      <p:sp>
        <p:nvSpPr>
          <p:cNvPr id="12" name="Text 9"/>
          <p:cNvSpPr/>
          <p:nvPr/>
        </p:nvSpPr>
        <p:spPr>
          <a:xfrm>
            <a:off x="553641" y="2399606"/>
            <a:ext cx="214313" cy="267891"/>
          </a:xfrm>
          <a:prstGeom prst="rect">
            <a:avLst/>
          </a:prstGeom>
          <a:noFill/>
          <a:ln/>
        </p:spPr>
        <p:txBody>
          <a:bodyPr wrap="none" lIns="0" tIns="0" rIns="0" bIns="0" rtlCol="0" anchor="t"/>
          <a:lstStyle/>
          <a:p>
            <a:pPr algn="ctr">
              <a:lnSpc>
                <a:spcPts val="1667"/>
              </a:lnSpc>
            </a:pPr>
            <a:r>
              <a:rPr lang="en-US" sz="1667" dirty="0">
                <a:solidFill>
                  <a:srgbClr val="3C3939"/>
                </a:solidFill>
                <a:latin typeface="Raleway" pitchFamily="34" charset="0"/>
                <a:ea typeface="Raleway" pitchFamily="34" charset="-122"/>
                <a:cs typeface="Raleway" pitchFamily="34" charset="-120"/>
              </a:rPr>
              <a:t>2</a:t>
            </a:r>
            <a:endParaRPr lang="en-US" sz="1667" dirty="0"/>
          </a:p>
        </p:txBody>
      </p:sp>
      <p:sp>
        <p:nvSpPr>
          <p:cNvPr id="13" name="Text 10"/>
          <p:cNvSpPr/>
          <p:nvPr/>
        </p:nvSpPr>
        <p:spPr>
          <a:xfrm>
            <a:off x="1375271" y="2421930"/>
            <a:ext cx="1786136" cy="223243"/>
          </a:xfrm>
          <a:prstGeom prst="rect">
            <a:avLst/>
          </a:prstGeom>
          <a:noFill/>
          <a:ln/>
        </p:spPr>
        <p:txBody>
          <a:bodyPr wrap="none" lIns="0" tIns="0" rIns="0" bIns="0" rtlCol="0" anchor="t"/>
          <a:lstStyle/>
          <a:p>
            <a:pPr>
              <a:lnSpc>
                <a:spcPts val="1750"/>
              </a:lnSpc>
            </a:pPr>
            <a:r>
              <a:rPr lang="en-US" sz="1375" dirty="0">
                <a:solidFill>
                  <a:srgbClr val="3C3939"/>
                </a:solidFill>
                <a:latin typeface="Raleway" pitchFamily="34" charset="0"/>
                <a:ea typeface="Raleway" pitchFamily="34" charset="-122"/>
                <a:cs typeface="Raleway" pitchFamily="34" charset="-120"/>
              </a:rPr>
              <a:t>Phase 2: Training</a:t>
            </a:r>
            <a:endParaRPr lang="en-US" sz="1375" dirty="0"/>
          </a:p>
        </p:txBody>
      </p:sp>
      <p:sp>
        <p:nvSpPr>
          <p:cNvPr id="14" name="Text 11"/>
          <p:cNvSpPr/>
          <p:nvPr/>
        </p:nvSpPr>
        <p:spPr>
          <a:xfrm>
            <a:off x="1375271" y="2730897"/>
            <a:ext cx="5744667" cy="228600"/>
          </a:xfrm>
          <a:prstGeom prst="rect">
            <a:avLst/>
          </a:prstGeom>
          <a:noFill/>
          <a:ln/>
        </p:spPr>
        <p:txBody>
          <a:bodyPr wrap="none" lIns="0" tIns="0" rIns="0" bIns="0" rtlCol="0" anchor="t"/>
          <a:lstStyle/>
          <a:p>
            <a:pPr>
              <a:lnSpc>
                <a:spcPts val="1792"/>
              </a:lnSpc>
            </a:pPr>
            <a:r>
              <a:rPr lang="en-US" sz="1125" dirty="0">
                <a:solidFill>
                  <a:srgbClr val="3C3939"/>
                </a:solidFill>
                <a:latin typeface="Roboto" pitchFamily="34" charset="0"/>
                <a:ea typeface="Roboto" pitchFamily="34" charset="-122"/>
                <a:cs typeface="Roboto" pitchFamily="34" charset="-120"/>
              </a:rPr>
              <a:t>Workshops on AI capabilities and best practices</a:t>
            </a:r>
            <a:endParaRPr lang="en-US" sz="1125" dirty="0"/>
          </a:p>
        </p:txBody>
      </p:sp>
      <p:sp>
        <p:nvSpPr>
          <p:cNvPr id="15" name="Shape 12"/>
          <p:cNvSpPr/>
          <p:nvPr/>
        </p:nvSpPr>
        <p:spPr>
          <a:xfrm>
            <a:off x="802482" y="3396457"/>
            <a:ext cx="428625" cy="19050"/>
          </a:xfrm>
          <a:prstGeom prst="roundRect">
            <a:avLst>
              <a:gd name="adj" fmla="val 315052"/>
            </a:avLst>
          </a:prstGeom>
          <a:solidFill>
            <a:srgbClr val="C7C7D0"/>
          </a:solidFill>
          <a:ln/>
        </p:spPr>
        <p:txBody>
          <a:bodyPr/>
          <a:lstStyle/>
          <a:p>
            <a:endParaRPr lang="en-US" sz="1250"/>
          </a:p>
        </p:txBody>
      </p:sp>
      <p:sp>
        <p:nvSpPr>
          <p:cNvPr id="16" name="Shape 13"/>
          <p:cNvSpPr/>
          <p:nvPr/>
        </p:nvSpPr>
        <p:spPr>
          <a:xfrm>
            <a:off x="500063" y="3245247"/>
            <a:ext cx="321469" cy="321469"/>
          </a:xfrm>
          <a:prstGeom prst="roundRect">
            <a:avLst>
              <a:gd name="adj" fmla="val 18670"/>
            </a:avLst>
          </a:prstGeom>
          <a:solidFill>
            <a:srgbClr val="E1E1EA"/>
          </a:solidFill>
          <a:ln w="7620">
            <a:solidFill>
              <a:srgbClr val="C7C7D0"/>
            </a:solidFill>
            <a:prstDash val="solid"/>
          </a:ln>
        </p:spPr>
        <p:txBody>
          <a:bodyPr/>
          <a:lstStyle/>
          <a:p>
            <a:endParaRPr lang="en-US" sz="1250"/>
          </a:p>
        </p:txBody>
      </p:sp>
      <p:sp>
        <p:nvSpPr>
          <p:cNvPr id="17" name="Text 14"/>
          <p:cNvSpPr/>
          <p:nvPr/>
        </p:nvSpPr>
        <p:spPr>
          <a:xfrm>
            <a:off x="553641" y="3272036"/>
            <a:ext cx="214313" cy="267891"/>
          </a:xfrm>
          <a:prstGeom prst="rect">
            <a:avLst/>
          </a:prstGeom>
          <a:noFill/>
          <a:ln/>
        </p:spPr>
        <p:txBody>
          <a:bodyPr wrap="none" lIns="0" tIns="0" rIns="0" bIns="0" rtlCol="0" anchor="t"/>
          <a:lstStyle/>
          <a:p>
            <a:pPr algn="ctr">
              <a:lnSpc>
                <a:spcPts val="1667"/>
              </a:lnSpc>
            </a:pPr>
            <a:r>
              <a:rPr lang="en-US" sz="1667" dirty="0">
                <a:solidFill>
                  <a:srgbClr val="3C3939"/>
                </a:solidFill>
                <a:latin typeface="Raleway" pitchFamily="34" charset="0"/>
                <a:ea typeface="Raleway" pitchFamily="34" charset="-122"/>
                <a:cs typeface="Raleway" pitchFamily="34" charset="-120"/>
              </a:rPr>
              <a:t>3</a:t>
            </a:r>
            <a:endParaRPr lang="en-US" sz="1667" dirty="0"/>
          </a:p>
        </p:txBody>
      </p:sp>
      <p:sp>
        <p:nvSpPr>
          <p:cNvPr id="18" name="Text 15"/>
          <p:cNvSpPr/>
          <p:nvPr/>
        </p:nvSpPr>
        <p:spPr>
          <a:xfrm>
            <a:off x="1375271" y="3294360"/>
            <a:ext cx="1786136" cy="223243"/>
          </a:xfrm>
          <a:prstGeom prst="rect">
            <a:avLst/>
          </a:prstGeom>
          <a:noFill/>
          <a:ln/>
        </p:spPr>
        <p:txBody>
          <a:bodyPr wrap="none" lIns="0" tIns="0" rIns="0" bIns="0" rtlCol="0" anchor="t"/>
          <a:lstStyle/>
          <a:p>
            <a:pPr>
              <a:lnSpc>
                <a:spcPts val="1750"/>
              </a:lnSpc>
            </a:pPr>
            <a:r>
              <a:rPr lang="en-US" sz="1375" dirty="0">
                <a:solidFill>
                  <a:srgbClr val="3C3939"/>
                </a:solidFill>
                <a:latin typeface="Raleway" pitchFamily="34" charset="0"/>
                <a:ea typeface="Raleway" pitchFamily="34" charset="-122"/>
                <a:cs typeface="Raleway" pitchFamily="34" charset="-120"/>
              </a:rPr>
              <a:t>Phase 3: Scale</a:t>
            </a:r>
            <a:endParaRPr lang="en-US" sz="1375" dirty="0"/>
          </a:p>
        </p:txBody>
      </p:sp>
      <p:sp>
        <p:nvSpPr>
          <p:cNvPr id="19" name="Text 16"/>
          <p:cNvSpPr/>
          <p:nvPr/>
        </p:nvSpPr>
        <p:spPr>
          <a:xfrm>
            <a:off x="1375271" y="3603328"/>
            <a:ext cx="5744667" cy="228600"/>
          </a:xfrm>
          <a:prstGeom prst="rect">
            <a:avLst/>
          </a:prstGeom>
          <a:noFill/>
          <a:ln/>
        </p:spPr>
        <p:txBody>
          <a:bodyPr wrap="none" lIns="0" tIns="0" rIns="0" bIns="0" rtlCol="0" anchor="t"/>
          <a:lstStyle/>
          <a:p>
            <a:pPr>
              <a:lnSpc>
                <a:spcPts val="1792"/>
              </a:lnSpc>
            </a:pPr>
            <a:r>
              <a:rPr lang="en-US" sz="1125" dirty="0">
                <a:solidFill>
                  <a:srgbClr val="3C3939"/>
                </a:solidFill>
                <a:latin typeface="Roboto" pitchFamily="34" charset="0"/>
                <a:ea typeface="Roboto" pitchFamily="34" charset="-122"/>
                <a:cs typeface="Roboto" pitchFamily="34" charset="-120"/>
              </a:rPr>
              <a:t>Gradual rollout across all repositories</a:t>
            </a:r>
            <a:endParaRPr lang="en-US" sz="1125" dirty="0"/>
          </a:p>
        </p:txBody>
      </p:sp>
      <p:sp>
        <p:nvSpPr>
          <p:cNvPr id="20" name="Shape 17"/>
          <p:cNvSpPr/>
          <p:nvPr/>
        </p:nvSpPr>
        <p:spPr>
          <a:xfrm>
            <a:off x="802482" y="4268887"/>
            <a:ext cx="428625" cy="19050"/>
          </a:xfrm>
          <a:prstGeom prst="roundRect">
            <a:avLst>
              <a:gd name="adj" fmla="val 315052"/>
            </a:avLst>
          </a:prstGeom>
          <a:solidFill>
            <a:srgbClr val="C7C7D0"/>
          </a:solidFill>
          <a:ln/>
        </p:spPr>
        <p:txBody>
          <a:bodyPr/>
          <a:lstStyle/>
          <a:p>
            <a:endParaRPr lang="en-US" sz="1250"/>
          </a:p>
        </p:txBody>
      </p:sp>
      <p:sp>
        <p:nvSpPr>
          <p:cNvPr id="21" name="Shape 18"/>
          <p:cNvSpPr/>
          <p:nvPr/>
        </p:nvSpPr>
        <p:spPr>
          <a:xfrm>
            <a:off x="500063" y="4117678"/>
            <a:ext cx="321469" cy="321469"/>
          </a:xfrm>
          <a:prstGeom prst="roundRect">
            <a:avLst>
              <a:gd name="adj" fmla="val 18670"/>
            </a:avLst>
          </a:prstGeom>
          <a:solidFill>
            <a:srgbClr val="E1E1EA"/>
          </a:solidFill>
          <a:ln w="7620">
            <a:solidFill>
              <a:srgbClr val="C7C7D0"/>
            </a:solidFill>
            <a:prstDash val="solid"/>
          </a:ln>
        </p:spPr>
        <p:txBody>
          <a:bodyPr/>
          <a:lstStyle/>
          <a:p>
            <a:endParaRPr lang="en-US" sz="1250"/>
          </a:p>
        </p:txBody>
      </p:sp>
      <p:sp>
        <p:nvSpPr>
          <p:cNvPr id="22" name="Text 19"/>
          <p:cNvSpPr/>
          <p:nvPr/>
        </p:nvSpPr>
        <p:spPr>
          <a:xfrm>
            <a:off x="553641" y="4144467"/>
            <a:ext cx="214313" cy="267891"/>
          </a:xfrm>
          <a:prstGeom prst="rect">
            <a:avLst/>
          </a:prstGeom>
          <a:noFill/>
          <a:ln/>
        </p:spPr>
        <p:txBody>
          <a:bodyPr wrap="none" lIns="0" tIns="0" rIns="0" bIns="0" rtlCol="0" anchor="t"/>
          <a:lstStyle/>
          <a:p>
            <a:pPr algn="ctr">
              <a:lnSpc>
                <a:spcPts val="1667"/>
              </a:lnSpc>
            </a:pPr>
            <a:r>
              <a:rPr lang="en-US" sz="1667" dirty="0">
                <a:solidFill>
                  <a:srgbClr val="3C3939"/>
                </a:solidFill>
                <a:latin typeface="Raleway" pitchFamily="34" charset="0"/>
                <a:ea typeface="Raleway" pitchFamily="34" charset="-122"/>
                <a:cs typeface="Raleway" pitchFamily="34" charset="-120"/>
              </a:rPr>
              <a:t>4</a:t>
            </a:r>
            <a:endParaRPr lang="en-US" sz="1667" dirty="0"/>
          </a:p>
        </p:txBody>
      </p:sp>
      <p:sp>
        <p:nvSpPr>
          <p:cNvPr id="23" name="Text 20"/>
          <p:cNvSpPr/>
          <p:nvPr/>
        </p:nvSpPr>
        <p:spPr>
          <a:xfrm>
            <a:off x="1375271" y="4166791"/>
            <a:ext cx="1786136" cy="223243"/>
          </a:xfrm>
          <a:prstGeom prst="rect">
            <a:avLst/>
          </a:prstGeom>
          <a:noFill/>
          <a:ln/>
        </p:spPr>
        <p:txBody>
          <a:bodyPr wrap="none" lIns="0" tIns="0" rIns="0" bIns="0" rtlCol="0" anchor="t"/>
          <a:lstStyle/>
          <a:p>
            <a:pPr>
              <a:lnSpc>
                <a:spcPts val="1750"/>
              </a:lnSpc>
            </a:pPr>
            <a:r>
              <a:rPr lang="en-US" sz="1375" dirty="0">
                <a:solidFill>
                  <a:srgbClr val="3C3939"/>
                </a:solidFill>
                <a:latin typeface="Raleway" pitchFamily="34" charset="0"/>
                <a:ea typeface="Raleway" pitchFamily="34" charset="-122"/>
                <a:cs typeface="Raleway" pitchFamily="34" charset="-120"/>
              </a:rPr>
              <a:t>Phase 4: Optimize</a:t>
            </a:r>
            <a:endParaRPr lang="en-US" sz="1375" dirty="0"/>
          </a:p>
        </p:txBody>
      </p:sp>
      <p:sp>
        <p:nvSpPr>
          <p:cNvPr id="24" name="Text 21"/>
          <p:cNvSpPr/>
          <p:nvPr/>
        </p:nvSpPr>
        <p:spPr>
          <a:xfrm>
            <a:off x="1375271" y="4475758"/>
            <a:ext cx="5744667" cy="228600"/>
          </a:xfrm>
          <a:prstGeom prst="rect">
            <a:avLst/>
          </a:prstGeom>
          <a:noFill/>
          <a:ln/>
        </p:spPr>
        <p:txBody>
          <a:bodyPr wrap="none" lIns="0" tIns="0" rIns="0" bIns="0" rtlCol="0" anchor="t"/>
          <a:lstStyle/>
          <a:p>
            <a:pPr>
              <a:lnSpc>
                <a:spcPts val="1792"/>
              </a:lnSpc>
            </a:pPr>
            <a:r>
              <a:rPr lang="en-US" sz="1125" dirty="0">
                <a:solidFill>
                  <a:srgbClr val="3C3939"/>
                </a:solidFill>
                <a:latin typeface="Roboto" pitchFamily="34" charset="0"/>
                <a:ea typeface="Roboto" pitchFamily="34" charset="-122"/>
                <a:cs typeface="Roboto" pitchFamily="34" charset="-120"/>
              </a:rPr>
              <a:t>Fine-configuration role &amp; vector DB based on team feedback</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36959" y="343297"/>
            <a:ext cx="6746082" cy="780257"/>
          </a:xfrm>
          <a:prstGeom prst="rect">
            <a:avLst/>
          </a:prstGeom>
          <a:noFill/>
          <a:ln/>
        </p:spPr>
        <p:txBody>
          <a:bodyPr wrap="square" lIns="0" tIns="0" rIns="0" bIns="0" rtlCol="0" anchor="t"/>
          <a:lstStyle/>
          <a:p>
            <a:pPr>
              <a:lnSpc>
                <a:spcPts val="3042"/>
              </a:lnSpc>
            </a:pPr>
            <a:r>
              <a:rPr lang="en-US" sz="2417" dirty="0">
                <a:solidFill>
                  <a:srgbClr val="1B1B27"/>
                </a:solidFill>
                <a:latin typeface="Raleway" pitchFamily="34" charset="0"/>
                <a:ea typeface="Raleway" pitchFamily="34" charset="-122"/>
                <a:cs typeface="Raleway" pitchFamily="34" charset="-120"/>
              </a:rPr>
              <a:t>Next Steps: Integrate AI-Enhanced Review into CI/CD Pipeline</a:t>
            </a:r>
            <a:endParaRPr lang="en-US" sz="2417" dirty="0"/>
          </a:p>
        </p:txBody>
      </p:sp>
      <p:pic>
        <p:nvPicPr>
          <p:cNvPr id="23" name="Picture 22">
            <a:extLst>
              <a:ext uri="{FF2B5EF4-FFF2-40B4-BE49-F238E27FC236}">
                <a16:creationId xmlns:a16="http://schemas.microsoft.com/office/drawing/2014/main" id="{33C06D72-CAA9-4896-B6EA-5C96E76651AB}"/>
              </a:ext>
            </a:extLst>
          </p:cNvPr>
          <p:cNvPicPr>
            <a:picLocks noChangeAspect="1"/>
          </p:cNvPicPr>
          <p:nvPr/>
        </p:nvPicPr>
        <p:blipFill>
          <a:blip r:embed="rId3"/>
          <a:stretch>
            <a:fillRect/>
          </a:stretch>
        </p:blipFill>
        <p:spPr>
          <a:xfrm>
            <a:off x="436959" y="1432025"/>
            <a:ext cx="11094098" cy="44326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955A5-2F7B-FA4D-EBDA-59EC377537B1}"/>
            </a:ext>
          </a:extLst>
        </p:cNvPr>
        <p:cNvGrpSpPr/>
        <p:nvPr/>
      </p:nvGrpSpPr>
      <p:grpSpPr>
        <a:xfrm>
          <a:off x="0" y="0"/>
          <a:ext cx="0" cy="0"/>
          <a:chOff x="0" y="0"/>
          <a:chExt cx="0" cy="0"/>
        </a:xfrm>
      </p:grpSpPr>
      <p:sp>
        <p:nvSpPr>
          <p:cNvPr id="2" name="Title 18">
            <a:extLst>
              <a:ext uri="{FF2B5EF4-FFF2-40B4-BE49-F238E27FC236}">
                <a16:creationId xmlns:a16="http://schemas.microsoft.com/office/drawing/2014/main" id="{20A9BBC0-8E95-18C2-99D2-593FCA69BA83}"/>
              </a:ext>
            </a:extLst>
          </p:cNvPr>
          <p:cNvSpPr txBox="1">
            <a:spLocks/>
          </p:cNvSpPr>
          <p:nvPr/>
        </p:nvSpPr>
        <p:spPr>
          <a:xfrm>
            <a:off x="8120599" y="2469324"/>
            <a:ext cx="3525245" cy="1519680"/>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lang="en-US" sz="3600"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algn="l"/>
            <a:r>
              <a:rPr lang="en-IN" sz="4800" spc="300" dirty="0">
                <a:solidFill>
                  <a:schemeClr val="tx1"/>
                </a:solidFill>
              </a:rPr>
              <a:t>Thank You</a:t>
            </a:r>
          </a:p>
        </p:txBody>
      </p:sp>
      <p:pic>
        <p:nvPicPr>
          <p:cNvPr id="9" name="Picture 8">
            <a:extLst>
              <a:ext uri="{FF2B5EF4-FFF2-40B4-BE49-F238E27FC236}">
                <a16:creationId xmlns:a16="http://schemas.microsoft.com/office/drawing/2014/main" id="{47A3D391-8149-26AE-FDD5-C7523C0EF4D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flipH="1">
            <a:off x="5174248" y="0"/>
            <a:ext cx="150450" cy="6858000"/>
          </a:xfrm>
          <a:prstGeom prst="rect">
            <a:avLst/>
          </a:prstGeom>
        </p:spPr>
      </p:pic>
      <p:pic>
        <p:nvPicPr>
          <p:cNvPr id="10" name="Picture 9">
            <a:extLst>
              <a:ext uri="{FF2B5EF4-FFF2-40B4-BE49-F238E27FC236}">
                <a16:creationId xmlns:a16="http://schemas.microsoft.com/office/drawing/2014/main" id="{B889C89A-4DE1-3131-AB87-86B6BDE60B37}"/>
              </a:ext>
            </a:extLst>
          </p:cNvPr>
          <p:cNvPicPr>
            <a:picLocks noChangeAspect="1"/>
          </p:cNvPicPr>
          <p:nvPr/>
        </p:nvPicPr>
        <p:blipFill>
          <a:blip r:embed="rId3" cstate="print">
            <a:extLst>
              <a:ext uri="{28A0092B-C50C-407E-A947-70E740481C1C}">
                <a14:useLocalDpi xmlns:a14="http://schemas.microsoft.com/office/drawing/2010/main"/>
              </a:ext>
            </a:extLst>
          </a:blip>
          <a:srcRect l="6144" b="6144"/>
          <a:stretch>
            <a:fillRect/>
          </a:stretch>
        </p:blipFill>
        <p:spPr>
          <a:xfrm>
            <a:off x="1" y="0"/>
            <a:ext cx="4753510" cy="6858000"/>
          </a:xfrm>
          <a:prstGeom prst="rect">
            <a:avLst/>
          </a:prstGeom>
        </p:spPr>
      </p:pic>
      <p:sp>
        <p:nvSpPr>
          <p:cNvPr id="11" name="Rectangle 10">
            <a:extLst>
              <a:ext uri="{FF2B5EF4-FFF2-40B4-BE49-F238E27FC236}">
                <a16:creationId xmlns:a16="http://schemas.microsoft.com/office/drawing/2014/main" id="{16C6C7E5-2F3E-F314-AC2A-89FA1769D7E5}"/>
              </a:ext>
            </a:extLst>
          </p:cNvPr>
          <p:cNvSpPr/>
          <p:nvPr/>
        </p:nvSpPr>
        <p:spPr>
          <a:xfrm>
            <a:off x="4699687" y="0"/>
            <a:ext cx="474561"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Trebuchet MS"/>
              <a:ea typeface="Roboto" panose="02000000000000000000" pitchFamily="2" charset="0"/>
              <a:cs typeface="+mn-cs"/>
            </a:endParaRPr>
          </a:p>
        </p:txBody>
      </p:sp>
    </p:spTree>
    <p:extLst>
      <p:ext uri="{BB962C8B-B14F-4D97-AF65-F5344CB8AC3E}">
        <p14:creationId xmlns:p14="http://schemas.microsoft.com/office/powerpoint/2010/main" val="348154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179</TotalTime>
  <Words>482</Words>
  <Application>Microsoft Office PowerPoint</Application>
  <PresentationFormat>Widescreen</PresentationFormat>
  <Paragraphs>103</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Calibri</vt:lpstr>
      <vt:lpstr>Arial</vt:lpstr>
      <vt:lpstr>Open Sans</vt:lpstr>
      <vt:lpstr>Roboto</vt:lpstr>
      <vt:lpstr>Trebuchet MS</vt:lpstr>
      <vt:lpstr>Raleway</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Seungtae Nam</cp:lastModifiedBy>
  <cp:revision>7</cp:revision>
  <dcterms:created xsi:type="dcterms:W3CDTF">2025-12-19T01:55:30Z</dcterms:created>
  <dcterms:modified xsi:type="dcterms:W3CDTF">2025-12-19T04:56:05Z</dcterms:modified>
</cp:coreProperties>
</file>